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6" r:id="rId2"/>
    <p:sldId id="288" r:id="rId3"/>
    <p:sldId id="289" r:id="rId4"/>
    <p:sldId id="290" r:id="rId5"/>
    <p:sldId id="291" r:id="rId6"/>
    <p:sldId id="300" r:id="rId7"/>
    <p:sldId id="292" r:id="rId8"/>
    <p:sldId id="293" r:id="rId9"/>
    <p:sldId id="315" r:id="rId10"/>
    <p:sldId id="299" r:id="rId11"/>
    <p:sldId id="294" r:id="rId12"/>
    <p:sldId id="316" r:id="rId13"/>
    <p:sldId id="317" r:id="rId14"/>
    <p:sldId id="323" r:id="rId15"/>
    <p:sldId id="295" r:id="rId16"/>
    <p:sldId id="318" r:id="rId17"/>
    <p:sldId id="319" r:id="rId18"/>
    <p:sldId id="320" r:id="rId19"/>
    <p:sldId id="321" r:id="rId20"/>
    <p:sldId id="322" r:id="rId21"/>
    <p:sldId id="324" r:id="rId22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23"/>
    </p:embeddedFont>
    <p:embeddedFont>
      <p:font typeface="나눔스퀘어_ac ExtraBold" panose="020B0600000101010101" pitchFamily="50" charset="-127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5D5B"/>
    <a:srgbClr val="E2CBB7"/>
    <a:srgbClr val="EEE9E2"/>
    <a:srgbClr val="FCF7F2"/>
    <a:srgbClr val="554F4D"/>
    <a:srgbClr val="D0C4B0"/>
    <a:srgbClr val="E1D9CC"/>
    <a:srgbClr val="F2E0CA"/>
    <a:srgbClr val="F6E9DA"/>
    <a:srgbClr val="70686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F012-0AC3-42B2-90CA-BC5405C6B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097188-C232-41BC-A1C6-677F6D6FD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CDF9E-AFBC-4D2D-A688-7BE38874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59E12-6FA5-449B-95B8-5422692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9C277-1836-4E22-BB5C-32FD2C8A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58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D55B9-E8A9-4A30-91F8-3A87B484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38375-52A4-4DFC-94A7-02AAFB2D3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B85B4-E71D-494F-A759-4D10E064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F9B02-3085-4385-A3F2-BCBAF406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66A0F-23CB-48F3-98F5-EEB498F0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8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0C255-11F9-437C-BD0A-8C833027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716960-288E-40FA-BAC1-95E652A0A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145B-4748-48A7-8B68-AB10D9C3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43DA5-62AB-4B07-ACF4-66F7F151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5D854-17FC-4344-B33A-2133F9C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520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79294-4C29-4FF2-94D5-64F5E01A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82D1B-E38A-4915-8F19-5833301E1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A86B2-4BE5-4BDC-8321-2402D0BA9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36FE4B-E0B7-4187-9969-8E7CF3FF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CEF1A5-E0D7-4286-84FF-F034733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93F695-D9D7-4B6A-A576-90018153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4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B6A37-6DCD-490D-ACB4-5A4BBFDB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BFDDF-C043-4373-B751-DEDFFD2F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4EDD22-3F2F-4C29-86F7-886E17AD5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FDB57E-3DFC-4612-B7AB-FEDC5F867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070CB-C54B-46A0-945F-190DC0280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CDECCA-E76A-451A-AAFF-603D887E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C4C5F-2E37-4C43-933D-AA5036CC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55A0B-AD1F-4D77-BB32-6CA2B481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8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8ABC6-A533-4172-AFC1-84E430BA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4D0A85-6CE5-4FE0-A839-22468B8A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ABEBE-2706-4558-85F8-2436A72C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7E30B7-49F1-44C9-8825-1306CA43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6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09C7A-604B-447A-A0E7-827B9D62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E42BB5-D3ED-4C8D-8CA7-4619BE4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CFFE1-D135-48B9-9A6D-A2FD7C7A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DC539-7512-4226-9223-DA48FCD0E2DE}"/>
              </a:ext>
            </a:extLst>
          </p:cNvPr>
          <p:cNvSpPr txBox="1"/>
          <p:nvPr userDrawn="1"/>
        </p:nvSpPr>
        <p:spPr>
          <a:xfrm>
            <a:off x="9886440" y="6588607"/>
            <a:ext cx="23150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1417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BF424-516E-45C7-A9E1-790BDAF1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9E1ED-69B1-48EF-95E3-4A0BA178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E19A3F-94D9-442E-8D70-BDFA73E9A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EBF51-806D-4FB3-AA11-4F6B7DB7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593E20-D7A7-4DD2-AAB9-1257F61B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3B0FD-CAB2-4FFC-997F-FB326DD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79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8EB20-48F7-48B8-A6B9-0261B6BA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436F32-78E7-4C89-8734-475421D35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3D526B-EDAF-4888-AA56-44BF7C83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4E3DFB-8B04-43A4-BE6C-21E48237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7F976-D309-4D60-B0A1-43C6E574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BA7C4-51F1-47C6-A321-2DF8E677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026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D1FB7-E6E4-4153-8540-BFF436E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0FDF1D-719A-4B33-9023-7CE4316AD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4EE70-389B-46DE-9265-B822FBD1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0A08D-1ADA-4909-B351-23A9DB5B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96274-6782-43A2-9D65-26D48D59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0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FF69C1-F07A-44E0-8804-DBF0B91EE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152B80-F8D2-4FB9-9913-48A227D6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51D35-AC5D-4009-B23F-239D9EE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31EDF0-F5CD-4184-B8F2-C877766D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02437-6EA8-4A9E-A143-795A149A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5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F9EDB-7AE4-4C48-838E-CA5C2DF5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327EBC-3E3B-474E-83E1-C087A70D0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3D1C1-8BAB-48B1-8A81-361F734B3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B13408E7-38C9-4D32-A2B6-C3765899F2A5}" type="datetimeFigureOut">
              <a:rPr lang="ko-KR" altLang="en-US" smtClean="0"/>
              <a:pPr/>
              <a:t>2024-03-28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D174B-CCB9-47F1-8F37-F86E3A591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65FA4-90E6-4929-90D4-6FF8E70A0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354A54EA-75EF-4CE9-B3B8-A709779C82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3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:3000/greet/Mitch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CB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E8DB10-764D-45FC-AB61-1DD0D37C8E80}"/>
              </a:ext>
            </a:extLst>
          </p:cNvPr>
          <p:cNvSpPr txBox="1"/>
          <p:nvPr/>
        </p:nvSpPr>
        <p:spPr>
          <a:xfrm>
            <a:off x="3849918" y="2083650"/>
            <a:ext cx="41873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0" dirty="0">
                <a:solidFill>
                  <a:srgbClr val="655D5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CHAPTER 3</a:t>
            </a:r>
          </a:p>
          <a:p>
            <a:pPr algn="ctr"/>
            <a:r>
              <a:rPr lang="en-US" altLang="ko-KR" sz="5000" dirty="0">
                <a:solidFill>
                  <a:srgbClr val="655D5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Next.js </a:t>
            </a:r>
            <a:r>
              <a:rPr lang="ko-KR" altLang="en-US" sz="5000" dirty="0">
                <a:solidFill>
                  <a:srgbClr val="655D5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기초와</a:t>
            </a:r>
            <a:endParaRPr lang="en-US" altLang="ko-KR" sz="5000" dirty="0">
              <a:solidFill>
                <a:srgbClr val="655D5B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r>
              <a:rPr lang="ko-KR" altLang="en-US" sz="5000" dirty="0">
                <a:solidFill>
                  <a:srgbClr val="655D5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내장 컴포넌트</a:t>
            </a:r>
          </a:p>
        </p:txBody>
      </p:sp>
    </p:spTree>
    <p:extLst>
      <p:ext uri="{BB962C8B-B14F-4D97-AF65-F5344CB8AC3E}">
        <p14:creationId xmlns:p14="http://schemas.microsoft.com/office/powerpoint/2010/main" val="84612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930638" y="1468195"/>
            <a:ext cx="1033072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단순히 서버 사이드 렌더링만 제공하는 프레임워크가 아닙니다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이번 챕터에서는 라우팅 시스템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클라이언트에서의 내비게이션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최적화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메타데이터 처리 등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핵심 개념을 알아봅니다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이런 개념은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프레임워크로 실제 애플리케이션을 만들 때 큰 도움이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구체적으로 알아볼 내용은 다음과 같습니다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클라이언트와 서버에서의 라우팅 시스템 작동 방식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간 이동 최적화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정적 자원을 제공하는 방법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 이미지 최적화와 새로운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사용한 이미지 제공 최적화 기법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컴포넌트에서 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메타데이터를 처리하는 방법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_document.js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내용 및 커스터마이징 방법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F3544-979D-A0CE-1972-157C6E43203A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54741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675943" y="750704"/>
            <a:ext cx="1033072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파일시스템 기반 페이지와 라우팅 방법을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프로젝트는 기본적으로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디렉터리를 가지고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디렉터리 안의 모든 파일은 곧 애플리케이션의 페이지와 라우팅 규칙을 의미합니다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페이지라는 것은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jsx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tsx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파일에서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익스포트한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컴포넌트라고 볼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좀 더 정확한 이해를 위해 두 개의 페이지로만 구성된 웹 사이트를 만든다고 가정해봅시다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첫 번째 페이지는 홈페이지고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두 번째 페이지는 간단한 연락처 정보를 보여주는 페이지입니다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경우 웹 애플리케이션에는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contacts.js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두 개의 파일만 만들면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두 파일 모두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반환하는 함수를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익스포트해야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그래야 서버에서 해당 함수를 실행하고 렌더링한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내용을 브라우저로 전송할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C226D-45B3-65EF-F280-4B9A9403A778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50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B3F24F-429D-A604-642F-4B00A0A99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5" y="3217333"/>
            <a:ext cx="3831524" cy="11346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611F73-F4B2-64B3-E918-CA7D64AFF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65" y="4384782"/>
            <a:ext cx="4351397" cy="2423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8388E8-F955-77F9-2E3D-A5C7883F1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828" y="3856610"/>
            <a:ext cx="5898290" cy="18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0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EBE97-8698-0D11-B65A-3B265BE1800B}"/>
              </a:ext>
            </a:extLst>
          </p:cNvPr>
          <p:cNvSpPr txBox="1"/>
          <p:nvPr/>
        </p:nvSpPr>
        <p:spPr>
          <a:xfrm>
            <a:off x="11033456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7346B-D129-A9FF-71AD-B0D5F5A849DF}"/>
              </a:ext>
            </a:extLst>
          </p:cNvPr>
          <p:cNvSpPr txBox="1"/>
          <p:nvPr/>
        </p:nvSpPr>
        <p:spPr>
          <a:xfrm>
            <a:off x="675943" y="4591980"/>
            <a:ext cx="103307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내부에 계층적 구조로 라우팅 규칙을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예를 들어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/posts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대한 라우팅 규칙을 추가하고 싶다면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pages/posts/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만들어서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반환하도록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해당 주소로 접근하면 해당 페이지를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47397-41DE-3451-0749-FC29934609CA}"/>
              </a:ext>
            </a:extLst>
          </p:cNvPr>
          <p:cNvSpPr txBox="1"/>
          <p:nvPr/>
        </p:nvSpPr>
        <p:spPr>
          <a:xfrm>
            <a:off x="675942" y="2430722"/>
            <a:ext cx="1033072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contact-us.js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posts/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 index.js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 [slug].js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0666B-648C-1873-77BB-491A1B4395F6}"/>
              </a:ext>
            </a:extLst>
          </p:cNvPr>
          <p:cNvSpPr txBox="1"/>
          <p:nvPr/>
        </p:nvSpPr>
        <p:spPr>
          <a:xfrm>
            <a:off x="675942" y="1303926"/>
            <a:ext cx="103307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블로그를 만든 다음 각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게시글별로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라우팅 규칙을 만들어 보겠습니다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/posts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페이지를 만들어서 웹 사이트의 모든 게시글을 보여주도록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다음과 같이 먼저 동적 라우팅 규칙을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487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835094"/>
            <a:ext cx="1065245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다음으로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블로그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게시글에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대한 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동적 라우팅 규칙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생성해서 웹 사이트에 새로운 글을 쓸 때마다 수동으로 새 페이지를 만들지 않도록 해보겠습니다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동적 라우팅 규칙을 생성하기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pages/posts/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[slug].js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[slug]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경로 매개변수로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사용자가 브라우저 주소창에 입력하는 값은 모두 가질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말해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[slug]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각 블로그 게시글을 구분할 수 있는 것이죠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어떤 경로로 접근하든 동일한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코드를 렌더링합니다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내부에서 동적 라우팅 규칙을 중첩할 수도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이를테면 블로그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게시글에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접근하는 경로를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/posts/[date]/[slug]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같이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내에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[date]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디렉터리를 만들고 그 안에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[slug].js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저장하면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EA9B-A27A-B348-F01E-08FA7F40F8EC}"/>
              </a:ext>
            </a:extLst>
          </p:cNvPr>
          <p:cNvSpPr txBox="1"/>
          <p:nvPr/>
        </p:nvSpPr>
        <p:spPr>
          <a:xfrm>
            <a:off x="675943" y="3116265"/>
            <a:ext cx="1033072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contact-us.js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posts/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 index.js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 [date]/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- [slug].js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[date]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[slug]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변수는 어떤 값이든 가질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920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페이지에서 경로 매개변수 사용하기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591276" y="1453492"/>
            <a:ext cx="106524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 매개변수를 사용해 동적 페이지 콘텐츠를 쉽게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이전 프로젝트에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pages/greet/[name].js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추가해 밑의 코드를 입력해줍니다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페이지는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내장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getServerSideProps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통해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URL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동적으로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[name]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변수값을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가져와서 해당 사용자를 환영한다는 문구를 표시합니다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CB1A-D6BD-0576-E631-3E27510F3AB0}"/>
              </a:ext>
            </a:extLst>
          </p:cNvPr>
          <p:cNvSpPr txBox="1"/>
          <p:nvPr/>
        </p:nvSpPr>
        <p:spPr>
          <a:xfrm>
            <a:off x="591275" y="5384823"/>
            <a:ext cx="106524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 매개변수를 사용해 동적 페이지 콘텐츠를 쉽게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이전 프로젝트에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pages/greet/[name].js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추가해 밑의 코드를 입력해줍니다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브라우저에서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hlinkClick r:id="rId2"/>
              </a:rPr>
              <a:t>http://localhost:3000/greet/Mitch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주소로 가면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“Hello, Mitch!”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문구를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Name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 매개변수를 사용하기에 다른 이름을 넣으면 다르게 출력되는 것을 볼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DD0686-4A17-C99F-E7E4-8B678EF6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3" y="2625704"/>
            <a:ext cx="3868103" cy="263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8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464852"/>
            <a:ext cx="1071172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페이지 밖에서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getServerSideProps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getStationProps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사용하지 못하는데 어떻게 경로 매개변수를 컴포넌트 안에서 사용할 수 있을까요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 덕분에 별다른 어려움 없이 컴포넌트 안에서 경로 매개변수를 사용할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훅은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import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{</a:t>
            </a:r>
            <a:r>
              <a:rPr lang="en-US" altLang="ko-KR" sz="1700" dirty="0" err="1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}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from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‘next/router’;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사용해 가져다 쓸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훅은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상태나 함수형 컴포넌트 라이프 사이클을 다룰 수 있는 함수이며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역시 다른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훅과 동일하게 작동합니다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코드를 살펴보면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훅을 사용해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query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매개변수를 가져옵니다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 매개변수에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name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변수만 존재합니다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다음과 같이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query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 값을 콘솔에 로그로  출력하면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경로 매개변수와 쿼리 문자열들을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훅을 통해 어떻게 전달하는지 알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컴포넌트에서 경로 매개변수 사용하기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183F2B-8B51-52B9-665C-0FC8C48EF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4549681"/>
            <a:ext cx="4103098" cy="208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9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26797" y="1559317"/>
            <a:ext cx="109384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단순히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웹 애플리케이션을 서버에서 렌더링하려고 만든 프레임워크가 아닙니다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다양한 기능을 비롯해 웹 사이트 성능을 최적화할 수 있는 많은 방법을 제공하는데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중 하나가 바로 클라이언트에서 내비게이션을 처리하는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HTML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표준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&lt;a&gt;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태그를 사용해 페이지들을 연결할 수도 있지만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Link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통해 서로 다른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라우트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간의 이동을 최적화할 수도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다른 표준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컴포넌트처럼 다른 페이지 또는 웹 사이트의 일부를 연결할 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Link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불러와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클라이언트에서의 내비게이션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831A04D-1EA0-64F5-C4D6-A3179A1B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70" y="3110125"/>
            <a:ext cx="4252328" cy="2415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B93792-97A0-3621-AE59-30C60FCA5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63" y="3241247"/>
            <a:ext cx="2780969" cy="217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507171"/>
            <a:ext cx="1093840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10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부터는 동적 경로 매개변수를 통해 페이지를 좀 더 쉽게 연결할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예를 들어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/blog/[date]/[slug].js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페이지를 연결한다고 생각해봅시다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이전 버전의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두 가지 속성값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href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as)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전달해야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href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어떤 페이지를 렌더링해야 하는지 알려주고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as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속성은 브라우저의 주소창에 표시할 값을 나타냅니다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Next.js10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속성값을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href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속성값처럼 사용해도 충분합니다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그것만으로도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어떤 페이지를 렌더링하고 주소창에 어떤 값을 표시해야 하는지 알 수 있기 때문입니다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라우팅 시스템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클라이언트에서의 내비게이션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4EDA1F-E53A-7173-AA1A-16E32FDB0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0" y="2493516"/>
            <a:ext cx="6116016" cy="7074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F2C19A-E9D6-2E91-92BF-848E9272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10" y="4415042"/>
            <a:ext cx="5261167" cy="3271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F552A3-B436-4FA7-2318-6CE6C80F3FDD}"/>
              </a:ext>
            </a:extLst>
          </p:cNvPr>
          <p:cNvSpPr txBox="1"/>
          <p:nvPr/>
        </p:nvSpPr>
        <p:spPr>
          <a:xfrm>
            <a:off x="675943" y="4940340"/>
            <a:ext cx="109384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Link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 대신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userRouter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훅을 사용해 다른 페이지로 이동할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router.push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메서드를 사용해 해당 페이지로 이동 가능합니다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486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2" y="783981"/>
            <a:ext cx="1083951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정적 자원은 이미지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폰트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아이콘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컴파일한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파일과 같이 동적으로 변하지 않는 모든 종류의 파일을 의미합니다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이런 정적 자원은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/public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안에 저장하는 방식으로 클라이언트에 쉽게 제공됩니다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/public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안에 있는 모든 파일은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정적 자원으로 간주하고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/public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디렉터리에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index.txt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만든 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http://localhost:3000/index.txt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주소로 접근하면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index.txt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안에 있는 내용이 그대로 출력되는 것을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59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E29393-CA3F-6B46-AB94-FD99B934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2" y="2570735"/>
            <a:ext cx="4000847" cy="1569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C6BD5E-AC33-34AB-C9F0-521D6ED72758}"/>
              </a:ext>
            </a:extLst>
          </p:cNvPr>
          <p:cNvSpPr txBox="1"/>
          <p:nvPr/>
        </p:nvSpPr>
        <p:spPr>
          <a:xfrm>
            <a:off x="641942" y="4265352"/>
            <a:ext cx="108735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일반적으로 최적화되지 않은 이미지를 제공하는 것은 사용자 경험에 나쁜 영향을 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이미지를 불러오는데 오랜 시간이 걸리고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이미지를 불러온 후에도 이미지 주변 레이아웃이 변경되는 등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관점에서도 좋지 않습니다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이를 </a:t>
            </a:r>
            <a:r>
              <a:rPr lang="ko-KR" altLang="en-US" sz="1700" b="1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누적 레이아웃 이동 </a:t>
            </a:r>
            <a:r>
              <a:rPr lang="en-US" altLang="ko-KR" sz="1700" b="1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(CLS)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3-1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보면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왼쪽 브라우저 탭은 아직 이미지를 불러오지 못한 상태입니다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첫 번째 문자 영역과 두번째 문자 영역이 서로 가까이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이미지를 불러오고 나면 두번째 문자 영역이 아래로 밀려나기에 사용자가 두번째 문자 영역을 읽고 있었다면 영역이 이동하면서 어느 부분을 읽고 있었는지 놓칠 수도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내장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사용해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CLS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문제를 해결합니다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7279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 이미지 최적화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2" y="2206380"/>
            <a:ext cx="1087351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10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부터는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사용해 이미지를 자동으로 최적화할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최적화 기능을 사용하면 이미지를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WebP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같은 최신 이미지 포맷으로 제공할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지원하지 않는 브라우저의 경우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png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jpeg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같은 예전 이미지 포맷도 제공하니 걱정할 필요가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필요한 이미지 크기를 조절해 클라이언트가 아주 큰 이미지를 다운로드하느라 속도가 느려지는 상황도 피할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 이미지 최적화의 장점은 클라이언트가 이미지를 요구할 때 최적화한다는 점입니다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브라우저가 이미지를 요청하면 이미지를 최적화하고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크기를 조절하고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렌더링합니다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Unplash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Pexel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같은 외부 이미지 서비스로 이미지를 제공할 수 있으며 빌드 시간도 길어지지 않습니다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52382-87E2-1414-8E22-29BC3749585F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3100853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 이미지 최적화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59243" y="1486713"/>
            <a:ext cx="1087351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먼저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Unplash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이미지를 바로 제공할 수 있도록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next.config.mjs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속성에 다음과 같이 서비스 호스트명을 추가합니다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설정을 추가한 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 안에서 해당 도메인의 이미지를 불러올 때마다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자동으로 해당 이미지를 최적화합니다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브라우저로 접속하면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컴포넌트의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width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height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속성값에 따라 늘어난 형태로 표시됩니다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52382-87E2-1414-8E22-29BC3749585F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28C734-7DFF-EF7E-02A2-57EF79EC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2" y="3183850"/>
            <a:ext cx="3403762" cy="18741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BFA511-D135-0EE2-4D9D-03A1FDBD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668" y="3183850"/>
            <a:ext cx="5654530" cy="29491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041CC1-E8D7-5B9C-F979-C3D07AB2F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423" y="3183850"/>
            <a:ext cx="4736687" cy="321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61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 이미지 최적화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59243" y="1486713"/>
            <a:ext cx="108735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layout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속성값을 지정해 이미지를 원하는 대로 자를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∙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fixed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: HTML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img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태그와 같습니다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크기를 지정하면 더 크거나 작은 화면에서도 그 크기대로 고정됩니다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∙ responsive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fixed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반대로 동작합니다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화면 크기를 조절하면 그에 따라 이미지를 최적화해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∙ intrinsic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크기가 작은 화면에서는 이미지 크기를 조절하지만 이미지보다 큰 화면에선 이미지 크기를 조절하지 않습니다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∙ fill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부모 요소의 가로와 세로 크기에 따라 이미지를 늘립니다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layout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fill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지정한 경우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width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height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속성값을 함께 지정할 수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크기를 화면 크기에 따라 조절하고 싶다면 위 속성을 사용해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컴포넌트를 수정하면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52382-87E2-1414-8E22-29BC3749585F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170236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 이미지 최적화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52382-87E2-1414-8E22-29BC3749585F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32AAF4-3390-829A-C24D-A2582242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91" y="2675466"/>
            <a:ext cx="5418357" cy="3759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1ABE34-BEFB-2AA6-9C5E-1FD582C394A4}"/>
              </a:ext>
            </a:extLst>
          </p:cNvPr>
          <p:cNvSpPr txBox="1"/>
          <p:nvPr/>
        </p:nvSpPr>
        <p:spPr>
          <a:xfrm>
            <a:off x="659243" y="1486713"/>
            <a:ext cx="1087351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컴포넌트를 고정된 크기의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div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감쌌습니다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감싸고 있는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div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position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relative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Image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width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height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속성을 제거하고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layout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fill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지정했기에 부모 요소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div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크기에 따라 늘어납니다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objectFit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cover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지정해 부모 요소인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div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크기에 따라 잘라냅니다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62777C-CADF-D7F8-3051-08D46494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972" y="3120406"/>
            <a:ext cx="4910667" cy="259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1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2" y="1629509"/>
            <a:ext cx="1081987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기본으로 실행되고 있는 서버에서 자동 이미지 최적화 작업을 처리합니다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사이트가 컴퓨팅 자원이 충분하지 않은 작은 서버에서 실행된다면 이미지 최적화로 인해 성능에 영향을 미칠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next.config.mjs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내에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loader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속성을 지정해 외부 서비스를 통해 자동 이미지 최적화 작업을 처리합니다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밖의 서비스를 사용하거나 별도의 이미지 최적화 서버를 사용하고 싶다면 해당 정보를 컴포넌트 내에서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loader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속성으로 전달하면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별도로 만든 이미지 최적화 서버나 오픈소스 프로젝트를 이용한 이미지 최적화 서버를 외부 서비스로 연결해 사용할 수도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5166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정적 자원 제공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 서비스를 통한 자동 이미지 최적화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E077BC-F243-0FB6-4666-E5150763C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68" y="2653071"/>
            <a:ext cx="3215919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9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86064" y="1381044"/>
            <a:ext cx="1081987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애플리케이션에서 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메타데이터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제대로 다루는 것이 정말 중요합니다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페이스북에서는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오픈 그래프라는 프로토콜을 사용해 어떤 데이터를 카드에 표시할지 파악합니다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소셜 네트워크나 웹 사이트에 필요한 정보를 주려면 웹 사이트에서 페이지에 몇 가지 메타데이터를 추가해야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사이트에서 메타데이터를 제공하지 않으면 웹 사이트가 꼭 필요한 정보를 제공하지 않는다고 생각해서 검색 엔진이 해당 페이지의 점수를 낮게 매길 것 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메타 태그를 사용해 브라우저가 사용자 경험을 최적화할 수 있는데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당연히 메타데이터가 없다면 사용자 경험 또한 좋아질 수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내장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제공해 이런 데이터를 쉽게 다룰 수 있게 도와줍니다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컴포넌트는 어떤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컴포넌트에서든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&lt;head&gt;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내부 데이터를 변경할 수 있도록 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5166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3.3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메타데이터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7725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5166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3.3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메타데이터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4C8C70-1575-9EA2-2D95-45636F55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70" y="2069786"/>
            <a:ext cx="4237087" cy="35207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0E74AC-01EB-3B83-BA4D-EC6431C30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60" y="2069786"/>
            <a:ext cx="4107536" cy="3566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DBA5D-D527-ADD9-DE76-CC23D21BDE4C}"/>
              </a:ext>
            </a:extLst>
          </p:cNvPr>
          <p:cNvSpPr txBox="1"/>
          <p:nvPr/>
        </p:nvSpPr>
        <p:spPr>
          <a:xfrm>
            <a:off x="675942" y="954349"/>
            <a:ext cx="1081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about.js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페이지를 만들어 서버를 실행하고 해당 페이지를 각각 방문하면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&lt;title&gt;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태그의 내용이 어떤 페이지를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방문하느냐에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따라 바뀌는 것을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7989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604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3.4 _app.js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와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_document.js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 커스터마이징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9120B-A7E2-C043-26B4-5EE2345FB982}"/>
              </a:ext>
            </a:extLst>
          </p:cNvPr>
          <p:cNvSpPr txBox="1"/>
          <p:nvPr/>
        </p:nvSpPr>
        <p:spPr>
          <a:xfrm>
            <a:off x="655705" y="812623"/>
            <a:ext cx="1081987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애플리케이션에 따라 페이지 초기화 과정을 조절해야 하는 경우가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경우 페이지를 렌더링할 때마다 렌더링한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클라이언트에 보내기 전에 특정 작업을 처리해야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_document.js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이런 작업을 지정하고 처리합니다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A9397-D711-DE1B-5882-D44A3F072C18}"/>
              </a:ext>
            </a:extLst>
          </p:cNvPr>
          <p:cNvSpPr txBox="1"/>
          <p:nvPr/>
        </p:nvSpPr>
        <p:spPr>
          <a:xfrm>
            <a:off x="655705" y="2244681"/>
            <a:ext cx="604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_app.js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페이지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BDCFE-63BC-A076-1D87-48248A45B85F}"/>
              </a:ext>
            </a:extLst>
          </p:cNvPr>
          <p:cNvSpPr txBox="1"/>
          <p:nvPr/>
        </p:nvSpPr>
        <p:spPr>
          <a:xfrm>
            <a:off x="655705" y="2764552"/>
            <a:ext cx="1081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프로젝트를 생성하면 기본으로 다음과 같은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pages/_app.js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컴포넌트와 그 속성을 반환합니다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14BBA7-D0E8-9328-CE20-0C07D96B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87" y="3821599"/>
            <a:ext cx="4755292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604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_app.js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9120B-A7E2-C043-26B4-5EE2345FB982}"/>
              </a:ext>
            </a:extLst>
          </p:cNvPr>
          <p:cNvSpPr txBox="1"/>
          <p:nvPr/>
        </p:nvSpPr>
        <p:spPr>
          <a:xfrm>
            <a:off x="604671" y="764401"/>
            <a:ext cx="1096241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페이지마다 별도의 컴포넌트를 불러 오지 않고도 모든 페이지에서 같은 내비게이션 바를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사용해 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우선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components/Navbar.js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파일에서 내비게이션 바 컴포넌트를 정의합니다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이 컴포넌트를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파일에서 불러옵니다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해당 파일을 실행시키면 네비게이션 바가 표시되는 것을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DBFA95-8DE2-1536-E9D7-47E03096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77" y="1807283"/>
            <a:ext cx="3863854" cy="35642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8C1795-C9ED-662B-95E0-49008249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70" y="2320100"/>
            <a:ext cx="4694327" cy="16841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4EFF64-52FF-9611-AD63-0F5DE8B19476}"/>
              </a:ext>
            </a:extLst>
          </p:cNvPr>
          <p:cNvSpPr txBox="1"/>
          <p:nvPr/>
        </p:nvSpPr>
        <p:spPr>
          <a:xfrm>
            <a:off x="675942" y="5652995"/>
            <a:ext cx="1081987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getServerSideProps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getStaticProps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같은 함수를 사용해 데이터를 불러오는 용도로 사용할 수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파일의 주 목적은 페이지 이동 시 서로 다른 페이지 간 상태 유지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레이아웃 관리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속성에 데이터를 추가하는 것 등 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4007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604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_document.js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9120B-A7E2-C043-26B4-5EE2345FB982}"/>
              </a:ext>
            </a:extLst>
          </p:cNvPr>
          <p:cNvSpPr txBox="1"/>
          <p:nvPr/>
        </p:nvSpPr>
        <p:spPr>
          <a:xfrm>
            <a:off x="735209" y="1316757"/>
            <a:ext cx="1081987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페이지 컴포넌트에서는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&lt;head&gt;, &lt;html&gt;, &lt;body&gt;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같은 기본적인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태그를 정의할 필요가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&lt;html&gt;, &lt;body&gt;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태그를 렌더링하기 위해 내장 클래스인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Document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파일과 비슷하게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_document.js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파일로 기능을 확장할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33AD21-9D85-519E-2BCC-80CBD0F11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09" y="2666839"/>
            <a:ext cx="514394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3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44A70-4E79-9F6F-F1CB-28534BA9EE19}"/>
              </a:ext>
            </a:extLst>
          </p:cNvPr>
          <p:cNvSpPr txBox="1"/>
          <p:nvPr/>
        </p:nvSpPr>
        <p:spPr>
          <a:xfrm>
            <a:off x="675942" y="257460"/>
            <a:ext cx="604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_document.js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9120B-A7E2-C043-26B4-5EE2345FB982}"/>
              </a:ext>
            </a:extLst>
          </p:cNvPr>
          <p:cNvSpPr txBox="1"/>
          <p:nvPr/>
        </p:nvSpPr>
        <p:spPr>
          <a:xfrm>
            <a:off x="584464" y="777328"/>
            <a:ext cx="1081987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애플리케이션이 작동하기 위해 꼭 필요한 네 개의 컴포넌트가 있습니다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chemeClr val="accent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</a:t>
            </a:r>
          </a:p>
          <a:p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&lt;html&gt;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태그에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해당하며 여기에 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lang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같은 표준 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속성들을 전달할 수 있습니다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</a:t>
            </a:r>
          </a:p>
          <a:p>
            <a:pPr algn="l"/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페이지에 대한 공통 태그를 정의할 때 이 컴포넌트를 사용할 수 있습니다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Main</a:t>
            </a:r>
          </a:p>
          <a:p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컴포넌트를 렌더링하는 곳입니다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공통으로 사용되는 컴포넌트가 있다면 반드시 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파일에서 해당 컴포넌트를 사용해야 합니다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 err="1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NextScript</a:t>
            </a:r>
            <a:endParaRPr lang="en-US" altLang="ko-KR" sz="1700" dirty="0">
              <a:solidFill>
                <a:schemeClr val="accent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클라이언트에 전송할 페이지를 렌더링하고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클라이언트에서 실행할 코드 같은 작업을 처리할 수 있는 커스텀 스크립트가 위치하는 곳입니다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_document.js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페이지를 수정할 때 이 </a:t>
            </a:r>
            <a:r>
              <a:rPr lang="ko-KR" altLang="en-US" sz="17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네가지를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반드시 불러와야 합니다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이중에서 하나라도 빠지면 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애플리케이션은 제대로 작동하지 않습니다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마찬가지로 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_document.js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페이지에서도 </a:t>
            </a:r>
            <a:r>
              <a:rPr lang="en-US" altLang="ko-KR" sz="17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getServerSideProps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7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getStaticProps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같이 서버에서 데이터를 불러오는 함수를 사용할 순 없습니다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en-US" altLang="ko-KR" sz="17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getInitialProps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메서드를 사용할 순 있지만 이 함수를 쓰면 사이트 최적화 기능을 사용할 수 없으며 무조건 서버에서 모든 페이지를 렌더링 한다는 점을 기억해야 합니다</a:t>
            </a:r>
            <a:r>
              <a:rPr lang="en-US" altLang="ko-KR" sz="17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32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color">
      <a:dk1>
        <a:sysClr val="windowText" lastClr="000000"/>
      </a:dk1>
      <a:lt1>
        <a:sysClr val="window" lastClr="FFFFFF"/>
      </a:lt1>
      <a:dk2>
        <a:srgbClr val="D0CECE"/>
      </a:dk2>
      <a:lt2>
        <a:srgbClr val="E7E6E6"/>
      </a:lt2>
      <a:accent1>
        <a:srgbClr val="B98A76"/>
      </a:accent1>
      <a:accent2>
        <a:srgbClr val="DE956D"/>
      </a:accent2>
      <a:accent3>
        <a:srgbClr val="F6CAAF"/>
      </a:accent3>
      <a:accent4>
        <a:srgbClr val="EED6BC"/>
      </a:accent4>
      <a:accent5>
        <a:srgbClr val="E1D9CC"/>
      </a:accent5>
      <a:accent6>
        <a:srgbClr val="D8B8A9"/>
      </a:accent6>
      <a:hlink>
        <a:srgbClr val="595959"/>
      </a:hlink>
      <a:folHlink>
        <a:srgbClr val="595959"/>
      </a:folHlink>
    </a:clrScheme>
    <a:fontScheme name="이롭게 바탕체 Medium">
      <a:majorFont>
        <a:latin typeface="이롭게 바탕체 Medium"/>
        <a:ea typeface="이롭게 바탕체 Medium"/>
        <a:cs typeface=""/>
      </a:majorFont>
      <a:minorFont>
        <a:latin typeface="이롭게 바탕체 Medium"/>
        <a:ea typeface="이롭게 바탕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solidFill>
              <a:srgbClr val="554F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2266</Words>
  <Application>Microsoft Office PowerPoint</Application>
  <PresentationFormat>와이드스크린</PresentationFormat>
  <Paragraphs>200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나눔스퀘어_ac Bold</vt:lpstr>
      <vt:lpstr>나눔스퀘어_ac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한결 최</cp:lastModifiedBy>
  <cp:revision>83</cp:revision>
  <dcterms:created xsi:type="dcterms:W3CDTF">2020-05-03T01:37:17Z</dcterms:created>
  <dcterms:modified xsi:type="dcterms:W3CDTF">2024-03-28T07:59:10Z</dcterms:modified>
</cp:coreProperties>
</file>