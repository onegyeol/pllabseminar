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6" r:id="rId2"/>
    <p:sldId id="288" r:id="rId3"/>
    <p:sldId id="289" r:id="rId4"/>
    <p:sldId id="290" r:id="rId5"/>
    <p:sldId id="291" r:id="rId6"/>
    <p:sldId id="325" r:id="rId7"/>
    <p:sldId id="300" r:id="rId8"/>
    <p:sldId id="326" r:id="rId9"/>
    <p:sldId id="327" r:id="rId10"/>
    <p:sldId id="341" r:id="rId11"/>
    <p:sldId id="342" r:id="rId12"/>
    <p:sldId id="343" r:id="rId13"/>
    <p:sldId id="344" r:id="rId14"/>
    <p:sldId id="345" r:id="rId15"/>
    <p:sldId id="292" r:id="rId16"/>
    <p:sldId id="328" r:id="rId17"/>
    <p:sldId id="346" r:id="rId18"/>
    <p:sldId id="329" r:id="rId19"/>
    <p:sldId id="331" r:id="rId20"/>
    <p:sldId id="332" r:id="rId21"/>
    <p:sldId id="333" r:id="rId22"/>
    <p:sldId id="334" r:id="rId23"/>
    <p:sldId id="335" r:id="rId24"/>
    <p:sldId id="293" r:id="rId25"/>
    <p:sldId id="336" r:id="rId26"/>
    <p:sldId id="337" r:id="rId27"/>
    <p:sldId id="338" r:id="rId28"/>
    <p:sldId id="339" r:id="rId29"/>
    <p:sldId id="340" r:id="rId30"/>
  </p:sldIdLst>
  <p:sldSz cx="12192000" cy="6858000"/>
  <p:notesSz cx="6858000" cy="9144000"/>
  <p:embeddedFontLst>
    <p:embeddedFont>
      <p:font typeface="나눔스퀘어_ac Bold" panose="020B0600000101010101" pitchFamily="50" charset="-127"/>
      <p:bold r:id="rId31"/>
    </p:embeddedFont>
    <p:embeddedFont>
      <p:font typeface="나눔스퀘어_ac ExtraBold" panose="020B0600000101010101" pitchFamily="50" charset="-127"/>
      <p:bold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5D5B"/>
    <a:srgbClr val="E2CBB7"/>
    <a:srgbClr val="EEE9E2"/>
    <a:srgbClr val="FCF7F2"/>
    <a:srgbClr val="554F4D"/>
    <a:srgbClr val="D0C4B0"/>
    <a:srgbClr val="E1D9CC"/>
    <a:srgbClr val="F2E0CA"/>
    <a:srgbClr val="F6E9DA"/>
    <a:srgbClr val="70686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8F012-0AC3-42B2-90CA-BC5405C6B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097188-C232-41BC-A1C6-677F6D6FD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ACDF9E-AFBC-4D2D-A688-7BE38874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59E12-6FA5-449B-95B8-54226925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9C277-1836-4E22-BB5C-32FD2C8A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584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D55B9-E8A9-4A30-91F8-3A87B484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F38375-52A4-4DFC-94A7-02AAFB2D3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B85B4-E71D-494F-A759-4D10E064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F9B02-3085-4385-A3F2-BCBAF406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66A0F-23CB-48F3-98F5-EEB498F0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8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0C255-11F9-437C-BD0A-8C833027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716960-288E-40FA-BAC1-95E652A0A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145B-4748-48A7-8B68-AB10D9C3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243DA5-62AB-4B07-ACF4-66F7F151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5D854-17FC-4344-B33A-2133F9CD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520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79294-4C29-4FF2-94D5-64F5E01A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82D1B-E38A-4915-8F19-5833301E1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0A86B2-4BE5-4BDC-8321-2402D0BA9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36FE4B-E0B7-4187-9969-8E7CF3FF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CEF1A5-E0D7-4286-84FF-F0347333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93F695-D9D7-4B6A-A576-90018153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04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B6A37-6DCD-490D-ACB4-5A4BBFDB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FBFDDF-C043-4373-B751-DEDFFD2F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4EDD22-3F2F-4C29-86F7-886E17AD5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FDB57E-3DFC-4612-B7AB-FEDC5F867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2070CB-C54B-46A0-945F-190DC0280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CDECCA-E76A-451A-AAFF-603D887E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FC4C5F-2E37-4C43-933D-AA5036CC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C55A0B-AD1F-4D77-BB32-6CA2B481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08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8ABC6-A533-4172-AFC1-84E430BA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4D0A85-6CE5-4FE0-A839-22468B8A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ABEBE-2706-4558-85F8-2436A72C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7E30B7-49F1-44C9-8825-1306CA43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6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509C7A-604B-447A-A0E7-827B9D62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E42BB5-D3ED-4C8D-8CA7-4619BE48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CFFE1-D135-48B9-9A6D-A2FD7C7A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DC539-7512-4226-9223-DA48FCD0E2DE}"/>
              </a:ext>
            </a:extLst>
          </p:cNvPr>
          <p:cNvSpPr txBox="1"/>
          <p:nvPr userDrawn="1"/>
        </p:nvSpPr>
        <p:spPr>
          <a:xfrm>
            <a:off x="9886440" y="6588607"/>
            <a:ext cx="23150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1417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BF424-516E-45C7-A9E1-790BDAF1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9E1ED-69B1-48EF-95E3-4A0BA178F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E19A3F-94D9-442E-8D70-BDFA73E9A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EBF51-806D-4FB3-AA11-4F6B7DB7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593E20-D7A7-4DD2-AAB9-1257F61B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D3B0FD-CAB2-4FFC-997F-FB326DD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79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8EB20-48F7-48B8-A6B9-0261B6BA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436F32-78E7-4C89-8734-475421D35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3D526B-EDAF-4888-AA56-44BF7C83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4E3DFB-8B04-43A4-BE6C-21E48237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57F976-D309-4D60-B0A1-43C6E574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0BA7C4-51F1-47C6-A321-2DF8E677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026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D1FB7-E6E4-4153-8540-BFF436E9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0FDF1D-719A-4B33-9023-7CE4316AD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4EE70-389B-46DE-9265-B822FBD1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B0A08D-1ADA-4909-B351-23A9DB5B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96274-6782-43A2-9D65-26D48D59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0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FF69C1-F07A-44E0-8804-DBF0B91EE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152B80-F8D2-4FB9-9913-48A227D65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51D35-AC5D-4009-B23F-239D9EE5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31EDF0-F5CD-4184-B8F2-C877766D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02437-6EA8-4A9E-A143-795A149A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35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F9EDB-7AE4-4C48-838E-CA5C2DF5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327EBC-3E3B-474E-83E1-C087A70D0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3D1C1-8BAB-48B1-8A81-361F734B3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fld id="{B13408E7-38C9-4D32-A2B6-C3765899F2A5}" type="datetimeFigureOut">
              <a:rPr lang="ko-KR" altLang="en-US" smtClean="0"/>
              <a:pPr/>
              <a:t>2024-04-11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2D174B-CCB9-47F1-8F37-F86E3A591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65FA4-90E6-4929-90D4-6FF8E70A0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fld id="{354A54EA-75EF-4CE9-B3B8-A709779C82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43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CB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E8DB10-764D-45FC-AB61-1DD0D37C8E80}"/>
              </a:ext>
            </a:extLst>
          </p:cNvPr>
          <p:cNvSpPr txBox="1"/>
          <p:nvPr/>
        </p:nvSpPr>
        <p:spPr>
          <a:xfrm>
            <a:off x="4055904" y="2083650"/>
            <a:ext cx="377539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0" dirty="0">
                <a:solidFill>
                  <a:srgbClr val="655D5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CHAPTER 7.</a:t>
            </a:r>
          </a:p>
          <a:p>
            <a:pPr algn="ctr"/>
            <a:r>
              <a:rPr lang="en-US" altLang="ko-KR" sz="5000" dirty="0">
                <a:solidFill>
                  <a:srgbClr val="655D5B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 </a:t>
            </a:r>
            <a:r>
              <a:rPr lang="ko-KR" altLang="en-US" sz="5000" dirty="0">
                <a:solidFill>
                  <a:srgbClr val="655D5B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84612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F76AF-67C3-733F-CB76-165158CA4657}"/>
              </a:ext>
            </a:extLst>
          </p:cNvPr>
          <p:cNvSpPr txBox="1"/>
          <p:nvPr/>
        </p:nvSpPr>
        <p:spPr>
          <a:xfrm>
            <a:off x="950416" y="2467198"/>
            <a:ext cx="10330723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CHAPTER 7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몇가지 최신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라이브러리를 살펴보고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애플리케이션에 이러한 라이브러리를 어떻게 적용할 수 있는지 알아보겠습니다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 소개 및 필요성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Headless UI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F3544-979D-A0CE-1972-157C6E43203A}"/>
              </a:ext>
            </a:extLst>
          </p:cNvPr>
          <p:cNvSpPr txBox="1"/>
          <p:nvPr/>
        </p:nvSpPr>
        <p:spPr>
          <a:xfrm>
            <a:off x="10929078" y="350594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3547418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489093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7.1 UI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라이브러리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F76AF-67C3-733F-CB76-165158CA4657}"/>
              </a:ext>
            </a:extLst>
          </p:cNvPr>
          <p:cNvSpPr txBox="1"/>
          <p:nvPr/>
        </p:nvSpPr>
        <p:spPr>
          <a:xfrm>
            <a:off x="675943" y="2415442"/>
            <a:ext cx="10330723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라이브러리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프레임워크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유틸리티 기능이 필수는 아닙니다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웹 애플리케이션을 개발하다 보면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상당히 비슷한 접근성 규칙이나 유틸리티 함수를 자주 사용하게 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이런 측면에서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라이브러리가 필요한 것입니다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라이브러리의 핵심은 많이 사용하는 기능을 추상화하고 서로 다른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간에도 코드 재사용을 최대화하며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생산성을 향상시키고 테스트할 뿐만 아니라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컴포넌트에 테마를 적용할 수 있도록 하는 것입니다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C226D-45B3-65EF-F280-4B9A9403A778}"/>
              </a:ext>
            </a:extLst>
          </p:cNvPr>
          <p:cNvSpPr txBox="1"/>
          <p:nvPr/>
        </p:nvSpPr>
        <p:spPr>
          <a:xfrm>
            <a:off x="10929078" y="350594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3102609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 UI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3EBE97-8698-0D11-B65A-3B265BE1800B}"/>
              </a:ext>
            </a:extLst>
          </p:cNvPr>
          <p:cNvSpPr txBox="1"/>
          <p:nvPr/>
        </p:nvSpPr>
        <p:spPr>
          <a:xfrm>
            <a:off x="11033456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0666B-648C-1873-77BB-491A1B4395F6}"/>
              </a:ext>
            </a:extLst>
          </p:cNvPr>
          <p:cNvSpPr txBox="1"/>
          <p:nvPr/>
        </p:nvSpPr>
        <p:spPr>
          <a:xfrm>
            <a:off x="675943" y="1644585"/>
            <a:ext cx="1033072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오픈소스 컴포넌트 라이브러리로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모듈화되고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접근성이 뛰어나 보기 좋은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만들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접근성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다양한 내장 컴포넌트를 제공하므로 접근이 쉽습니다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테마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버튼의 기본 배경색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패딩 등에 관한 기본 테마를 제공합니다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또한 내장함수를 사용해 라이브러리 컴포넌트의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스타일이나 기본 테마를 변경할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밝은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어두운 테마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 설정에 따라 테마를 적용할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조합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컴포넌트들을 조합해 더 많은 컴포넌트를 만들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타입스크립트 지원</a:t>
            </a:r>
            <a:endParaRPr lang="en-US" altLang="ko-KR" sz="1700" dirty="0">
              <a:solidFill>
                <a:schemeClr val="accent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873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 UI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738695" y="1556580"/>
            <a:ext cx="1065245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적용하는 방법을 살펴보기 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의존성 패키지를 설치해줍니다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162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3D2C3A-2D03-163B-43DF-DF0D2FB39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40" y="2346239"/>
            <a:ext cx="4696480" cy="352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5D6C69-5BD6-BE31-76BF-9995287F10F0}"/>
              </a:ext>
            </a:extLst>
          </p:cNvPr>
          <p:cNvSpPr txBox="1"/>
          <p:nvPr/>
        </p:nvSpPr>
        <p:spPr>
          <a:xfrm>
            <a:off x="738696" y="3874915"/>
            <a:ext cx="106524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npm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yarn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사용에 따라 설치 방법이 다르기에 각자 컴퓨터에 맞는 방식으로 설치해줍니다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yarn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경우 책과 똑같이 설치하면 되고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npm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경우 위 사진대로 설치해주면 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사용할 준비가 끝났습니다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DD9735F-5FDE-E5A9-159F-22A01BCA5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40" y="3152366"/>
            <a:ext cx="9956601" cy="31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20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 UI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D6C69-5BD6-BE31-76BF-9995287F10F0}"/>
              </a:ext>
            </a:extLst>
          </p:cNvPr>
          <p:cNvSpPr txBox="1"/>
          <p:nvPr/>
        </p:nvSpPr>
        <p:spPr>
          <a:xfrm>
            <a:off x="6374349" y="2067466"/>
            <a:ext cx="5141707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적용을 위해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pages/_app.js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열어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Component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ChakraProvider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감쌉니다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이때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ChakraProvider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사용해 덮어쓸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theme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속성값을 전달할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제공하는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extendTheme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사용해 기본 테마 색 등을 원하는 대로 변경 가능합니다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0474B2-603E-AF0C-24A8-A7F94850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3" y="1229763"/>
            <a:ext cx="5464881" cy="46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80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637438" y="4609069"/>
            <a:ext cx="1065245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Index.js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추가하고 앞서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_app.js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정의한 색을 사용하도록 지정합니다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그러고 서버를 띄우면 그림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7-1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같은 페이지를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06729B-963D-8DF9-993B-622086753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2" y="1390935"/>
            <a:ext cx="5225895" cy="256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84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675943" y="872658"/>
            <a:ext cx="1065245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가상의 회사인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ACME Corporation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모든 직원을 목록으로 표시해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직원별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페이지를 제공하는 회사 직원 페이지를 만들어봅시다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모든 페이지에 밝은 테마와 어두운 테마로 변경할 수 있는 버튼을 추가합니다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먼저 회사 직원의 정보는 책에서 제공해주는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깃허브에서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가져와야합니다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디렉터리를 만들고 그 안에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users.js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만들어 저장해줍니다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목록을 가져왔다면 이를 활용해 밑의 코드처럼 객체 배열을 만들어 관리합니다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7E2068-C525-1FE4-7F65-2A2FF38F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33" y="2872850"/>
            <a:ext cx="7621064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9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6096000" y="2232117"/>
            <a:ext cx="476332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Pages/_documents.js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파일에서 어두운 테마나 밝은 테마를 적용하도록 하는 코드를 작성합니다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useSystemColorMode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훅을 사용해 현재 사용하는 컬러 모드가 무엇인지 알 수 있으며 이를 통해 특정 컴포넌트의 색이나 렌더링 방식을 조절할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사용자가 선택한 내용을 기억합니다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EE5ABE-489D-A58B-7FB1-EF8CF47A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3" y="929940"/>
            <a:ext cx="4968029" cy="576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4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675943" y="1075670"/>
            <a:ext cx="1073612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Pages/_app.js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페이지에서는 뒤에서 만들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TopBar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불러와 사용합니다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Component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Box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컴포넌트로 감싸고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&lt;Box&gt;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기본적으로 빈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&lt;div&gt;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같으며 다른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컴포넌트와 마찬가지로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지시자를 속성으로 받을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현재 코드의 경우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margin=“auto”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maxWidth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=“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container.xl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속성으로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36C201-E4B3-E2DA-3378-44BF97C0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76" y="2631739"/>
            <a:ext cx="5458587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06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675943" y="905092"/>
            <a:ext cx="1073612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/components/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TopBar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만들어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TopBar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만듭니다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사용자가 버튼을 클릭할 때마다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내장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toggleColorMode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호출해 밝은 테마와 어두운 테마를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번갈아가며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적용합니다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84339D-7A78-E0AA-CD83-CA45C0F7B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29" y="1782255"/>
            <a:ext cx="4544279" cy="482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8BFB28-30D9-C22D-90A6-C0B850277930}"/>
              </a:ext>
            </a:extLst>
          </p:cNvPr>
          <p:cNvSpPr txBox="1"/>
          <p:nvPr/>
        </p:nvSpPr>
        <p:spPr>
          <a:xfrm>
            <a:off x="5537200" y="4094159"/>
            <a:ext cx="587487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return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부분을 살펴보면 버튼의 크기와 모양을 정하고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클릭할 때마다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toggleColorMode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호출해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밝은 테마와 어두운 테마를 번갈아 적용하는 것을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40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169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6676234" y="1444933"/>
            <a:ext cx="5354402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/components/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UserCard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파일로 다른 컴포넌트도 만들어줍니다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 전체를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Link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컴포넌트로 감싸고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&lt;a&gt;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href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값을 전달합니다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하위 컴포넌트들을 수직으로 배치하기 위해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Vstack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사용합니다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내장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useColorModeValue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사용해 선택한 테마에 따라 컴포넌트의 배경색을 다르게 보여줍니다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밝은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테마의 경우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gray.50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어두운 테마의 경우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gray.700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적용해 보여줍니다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76157F-EC6B-1866-3B5E-94F0477F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37" y="1113773"/>
            <a:ext cx="6143726" cy="526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542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171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0E02-E291-8F72-352B-2A09E80789F9}"/>
              </a:ext>
            </a:extLst>
          </p:cNvPr>
          <p:cNvSpPr txBox="1"/>
          <p:nvPr/>
        </p:nvSpPr>
        <p:spPr>
          <a:xfrm>
            <a:off x="741598" y="1104274"/>
            <a:ext cx="1074219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직원 목록을 화면에 표시하기 위해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파일에 회사직원 정보를 불러온 다음 이를 새로 만든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UserCard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컴포넌트로 렌더링하고 서버를 띄우면 결과를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이때 반응형 속성을 사용했습니다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직원 카드를 격자 형태로 나타내기 위해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Grid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사용해 속성을 전달합니다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17619C-BC10-F52F-D623-B4DD77D5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98" y="2089587"/>
            <a:ext cx="7136286" cy="4406515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F6ACB844-F4DC-B388-8219-16EF520CA3D6}"/>
              </a:ext>
            </a:extLst>
          </p:cNvPr>
          <p:cNvSpPr/>
          <p:nvPr/>
        </p:nvSpPr>
        <p:spPr>
          <a:xfrm>
            <a:off x="6620933" y="4208177"/>
            <a:ext cx="1769534" cy="1693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2215B-929A-526F-D829-DC3688EF5CD9}"/>
              </a:ext>
            </a:extLst>
          </p:cNvPr>
          <p:cNvSpPr txBox="1"/>
          <p:nvPr/>
        </p:nvSpPr>
        <p:spPr>
          <a:xfrm>
            <a:off x="8390467" y="4115872"/>
            <a:ext cx="312766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반응형 속성 </a:t>
            </a:r>
            <a:endParaRPr lang="en-US" altLang="ko-KR" sz="1700" dirty="0">
              <a:solidFill>
                <a:schemeClr val="accent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5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171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AA6C4-A343-0D68-E2B1-3C4313BB542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7.2 Chakra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FB583F-E1B5-C3E6-27D0-FD3FEB367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" y="985791"/>
            <a:ext cx="6813176" cy="37963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EA218B3-E1A2-A887-BE7B-A475F24BB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49" y="2189251"/>
            <a:ext cx="7233769" cy="415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0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464852"/>
            <a:ext cx="10711724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효용을 최우선으로 생각하는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프레임워크로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만들 때 미리 만들어진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클래스를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규칙에 적용할 수 있는 직관적인 방법을 제공합니다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오직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규칙만 제공합니다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자바스크립트 스크립트나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컴포넌트를 제공하지 않으므로 필요한 경우 직접 만들어 사용해야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프레임워크 독립성 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원하는 테마 제작 가능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밝은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어두운 테마 지원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높은 수준의 최적화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빌드 시점에 사용하지 않는 클래스는 제거됩니다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따라서 최종 번들의 크기가 줄어듭니다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모바일 지원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179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293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808001"/>
            <a:ext cx="1071172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책에 보이는 것과 같이 새 프로젝트를 만들고 의존성 패키지들을 설치합니다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 후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 파일을 만들기 위해 </a:t>
            </a:r>
            <a:r>
              <a:rPr lang="en-US" altLang="ko-KR" sz="1700" dirty="0" err="1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npx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 err="1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 err="1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init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–p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명령을 실행합니다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그러면 두 개의 파일이 만들어집니다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Tailwind.config.js 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사용하지 않는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제거하거나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테마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어두운 테마 플러그인 등을 설정할 때 사용합니다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Postcss.config.js :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PostCSS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사용하며 이때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postcss.config.js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파일의 설정을 사용합니다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필요한 경우 이 파일을 수정해 설정을 변경할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0890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935935"/>
            <a:ext cx="1071172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우선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설정을 수정해 마지막으로 빌드할 때 사용하지 않는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규칙들을 제거합니다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Tailwind.config.js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열어 다음과 같이 수정하면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components/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디렉터리 안의 파일 중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jsx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끝나는 것을 찾은 다음 해당 파일에서 사용하지 않는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제거합니다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또한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darkMode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 값을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‘class’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지정합니다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FF723D-6259-5E8E-AE04-1A3AB691B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4" y="2116407"/>
            <a:ext cx="4539524" cy="20345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B88EA5F-1F12-30AE-77AF-80BFEC654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3" y="5238933"/>
            <a:ext cx="4539524" cy="13662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DAF8A3-7B2F-FCDA-52D0-D23C4BD86C61}"/>
              </a:ext>
            </a:extLst>
          </p:cNvPr>
          <p:cNvSpPr txBox="1"/>
          <p:nvPr/>
        </p:nvSpPr>
        <p:spPr>
          <a:xfrm>
            <a:off x="594815" y="4475516"/>
            <a:ext cx="1071172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tailwind.css 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 내용을 모든 페이지에 적용하도록 하기 위해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pages/_app.js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파일에서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/tailwind.css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불러옵니다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719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935935"/>
            <a:ext cx="1071172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pages/_app.js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파일을 열어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next-themes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라이브러리의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ThemeProvider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불러옵니다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이렇게 하면 밝은 테마와 어두운 테마를 번갈아 적용하고 다른 모든 컴포넌트를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ThemeProvider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감쌀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0F9E7E-7AFC-ECC4-94CA-900C8EF8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42" y="1808996"/>
            <a:ext cx="6620799" cy="3258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0AF577-37DE-84EE-607A-03D7C6CAE8F4}"/>
              </a:ext>
            </a:extLst>
          </p:cNvPr>
          <p:cNvSpPr txBox="1"/>
          <p:nvPr/>
        </p:nvSpPr>
        <p:spPr>
          <a:xfrm>
            <a:off x="675943" y="5418288"/>
            <a:ext cx="1071172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어두운 테마를 사용하면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&lt;div&gt;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배경색을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bg-gray-900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지정하고 밝은 테마가 적용된 경우에는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bg-gray-50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지정합니다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w-full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&lt;div&gt;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가로 폭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width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 값을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100%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지정해주고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min-h-screen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최소 높이 속성값을 전체 화면의 높이 값으로 지정하란 의미입니다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796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035962"/>
            <a:ext cx="1071172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 다음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/components/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TopBar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파일의 내용을 살펴봅니다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코드를 살펴보면 최대 폭이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100%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이고 색상은 초록색으로 가로로 긴 막대 모양을 정의했습니다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&lt;div&gt;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안에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최대 폭이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75%(w-10/12)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이며 가운데로 정렬하는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&lt;div&gt;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위치합니다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76FFBF-468C-E062-D05C-57468F8E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3" y="2214574"/>
            <a:ext cx="4658375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4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035962"/>
            <a:ext cx="1071172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Components/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ThemeSwitch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살펴봅니다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next-themes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라이브러리의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useTheme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훅을 사용해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테마값을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현재 설정에 따라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light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dark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지정합니다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리턴 부분의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&lt;button&gt;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부분을 보면 모서리가 둥글고 초록색 배경을 버튼을 만들었고 테마에 따라 조금씩 다른 색을 가집니다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C0764E-A704-4F92-F043-BD48E238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3" y="2255417"/>
            <a:ext cx="5447931" cy="447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00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035962"/>
            <a:ext cx="1071172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다음으로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components/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UseCard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만듭니다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앞서 저장한 직원 정보들을 보여주기 위한 페이지로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써서 만든 컴포넌트와 기능이 동일합니다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14B7FC-C00B-7819-1DC1-C3910AF5A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29" y="1632013"/>
            <a:ext cx="5796513" cy="46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6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035962"/>
            <a:ext cx="1071172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이제 가상의 회사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ACME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직원 페이지를 만들 준비가 끝났습니다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직원 정보를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data/users.js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파일에 저장하고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pages/index.js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열어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users.js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UserCard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불러온 다음 모든 내용을 격자 형태로 표시하도록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8037AE4-0AC1-6B23-9052-593DCEE6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3" y="1954292"/>
            <a:ext cx="5889139" cy="45693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47C1E2-C0A5-E0F8-B892-72FB08C73031}"/>
              </a:ext>
            </a:extLst>
          </p:cNvPr>
          <p:cNvSpPr txBox="1"/>
          <p:nvPr/>
        </p:nvSpPr>
        <p:spPr>
          <a:xfrm>
            <a:off x="6786282" y="2780859"/>
            <a:ext cx="472977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return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바로 밑의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&lt;div&gt;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태그를 보면 </a:t>
            </a:r>
            <a:r>
              <a:rPr lang="ko-KR" altLang="en-US" sz="1700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반응형 지시자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sm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접두사는 창의 가로폭이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640px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보다 크거나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같을때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적용되는 규칙입니다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기본적으로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클래스는 모바일 환경이 우선이며 그보다 큰 화면을 사용하는 경우 접두사를 지정해주어야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3516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41098-D956-E848-CC5E-154CB81B33DB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7.3 </a:t>
            </a:r>
            <a:r>
              <a:rPr lang="en-US" altLang="ko-KR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TailwindCSS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B979F0-8C1C-41EF-27E5-74BBC6405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" y="985791"/>
            <a:ext cx="6813176" cy="37963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11CE78-A087-D7D3-E1F2-A28E5FA22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49" y="2207180"/>
            <a:ext cx="7233769" cy="415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74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26797" y="1146915"/>
            <a:ext cx="1093840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앞서 살펴본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웹 컴포넌트 안에서 사용할 수 있는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클래스만 제공합니다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그래서 동적인 컴포넌트를 만들기 위해선 자바스크립트 코드를 작성해야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Headless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어떤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클래스나 스타일도 제공하지 않고 동적 컴포넌트만 제공합니다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앞에서 설명한 것처럼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패키지를 설치합니다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그런 다음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Headless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설치하고 동적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클래스 이름을 쉽게 만들 수 있는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classnames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유틸리티 패키지도 함께 설치합니다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190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7.4 Headless UI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93ADA2-D0D6-8A48-DDDE-77B2DE194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94" y="2945073"/>
            <a:ext cx="3938929" cy="2762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95C006-07CF-C514-1F77-D411473D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94" y="4774718"/>
            <a:ext cx="3781953" cy="828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BA0120-9A1B-EDCF-28DB-FD58DCC6A347}"/>
              </a:ext>
            </a:extLst>
          </p:cNvPr>
          <p:cNvSpPr txBox="1"/>
          <p:nvPr/>
        </p:nvSpPr>
        <p:spPr>
          <a:xfrm>
            <a:off x="626796" y="4049093"/>
            <a:ext cx="1093840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pages/index.js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파일에서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Headless UI,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classnames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Next.js Link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불러옵니다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63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26797" y="985550"/>
            <a:ext cx="110631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동일한 파일에 메뉴 요소 배열을 만듭니다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Headless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Menu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구조 분해 할당해서 메뉴를 만들 때 필요한 컴포넌트를 전부 가져옵니다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메뉴 항목을 각각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Item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컴포넌트로 감싸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MenuEntry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만들어 이를 메뉴 항목 배열에 적용합니다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&lt;Item&gt;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태그를 살펴보면 내부의 모든 요소에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active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라는 상태를 전달해 사용자에게 현재 어떤 메뉴가 활성화되었는지 알려줍니다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191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7.4 Headless UI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C0E660F-C8BA-C4E7-19DD-41FCA141F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011" y="2375359"/>
            <a:ext cx="2200582" cy="395342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01C09A6-702B-D7BE-22AC-D4279DF5F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433" y="2925392"/>
            <a:ext cx="3915321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1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5215467" y="1846162"/>
            <a:ext cx="674219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앞서 만든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MenuEntry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 부분에 스타일을 적용해봅시다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MenuEntry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props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매개변수로 받습니다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Props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에는 각 메뉴 항목의 정보가 담겨있습니다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Item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disabled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이면 메뉴 항목이 비활성화됩니다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active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매개변수로 받아 활성화된 상태인지 확인 후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classNames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변수를 사용해 클래스 이름을 설정합니다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Link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사용해 메뉴 항목을 렌더링합니다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이때 메뉴 항목의 이름은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props.name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사용해 표시합니다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191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7.4 Headless UI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B4C451-CC1C-3424-029C-BF80819EC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96" y="1354271"/>
            <a:ext cx="4549634" cy="429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42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675943" y="1039338"/>
            <a:ext cx="1101403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Home()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함수에는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Button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Item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꾸미기 위해 필요한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CSS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클래스들을 추가합니다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Headless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Transition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컴포넌트를 불러온 다음 메뉴 아이템을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Transition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컴포넌트로 감쌉니다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이를 통해 메뉴전환 효과를 적용해 콘텐츠를 표시하고 숨기는 효과를 좀 더 부드럽게 만들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194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7.4 Headless UI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03F0E1-6091-6F7B-3320-51457F40D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13" y="2117333"/>
            <a:ext cx="6610401" cy="420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03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194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33440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7.4 Headless UI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F25572-41AE-5A2E-C557-305FB8A0E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08" y="1315890"/>
            <a:ext cx="3829584" cy="16385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3AA8B21-21BB-C89B-54E3-18D5E9686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205" y="1144416"/>
            <a:ext cx="3886742" cy="1810003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FBE5498-8405-F14B-EE77-6139B642FFAC}"/>
              </a:ext>
            </a:extLst>
          </p:cNvPr>
          <p:cNvSpPr/>
          <p:nvPr/>
        </p:nvSpPr>
        <p:spPr>
          <a:xfrm>
            <a:off x="4936660" y="1888364"/>
            <a:ext cx="914400" cy="4001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F1FEC-C61C-BA87-D858-C94281707AE2}"/>
              </a:ext>
            </a:extLst>
          </p:cNvPr>
          <p:cNvSpPr txBox="1"/>
          <p:nvPr/>
        </p:nvSpPr>
        <p:spPr>
          <a:xfrm>
            <a:off x="4718991" y="1534421"/>
            <a:ext cx="197760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My Menu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선택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4E7B61F-B57E-D6EE-F6F4-BC9AE9320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96" y="3535795"/>
            <a:ext cx="3905795" cy="5620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5B73AEC-9974-6290-6857-1CE8B669B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407" y="4637683"/>
            <a:ext cx="3829584" cy="6858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45AF9D-15C8-76C6-7718-DF1AD42C9D4C}"/>
              </a:ext>
            </a:extLst>
          </p:cNvPr>
          <p:cNvSpPr txBox="1"/>
          <p:nvPr/>
        </p:nvSpPr>
        <p:spPr>
          <a:xfrm>
            <a:off x="4936659" y="3633521"/>
            <a:ext cx="315846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About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선택 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/about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으로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이동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08DD8-1056-8FE2-2E9F-0153424CBE97}"/>
              </a:ext>
            </a:extLst>
          </p:cNvPr>
          <p:cNvSpPr txBox="1"/>
          <p:nvPr/>
        </p:nvSpPr>
        <p:spPr>
          <a:xfrm>
            <a:off x="4904970" y="4792665"/>
            <a:ext cx="338738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Contact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선택 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/contact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이동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9543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194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0FAF-ADE9-6097-DAAC-B65914A7F7A9}"/>
              </a:ext>
            </a:extLst>
          </p:cNvPr>
          <p:cNvSpPr txBox="1"/>
          <p:nvPr/>
        </p:nvSpPr>
        <p:spPr>
          <a:xfrm>
            <a:off x="675943" y="442294"/>
            <a:ext cx="453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정리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F1FEC-C61C-BA87-D858-C94281707AE2}"/>
              </a:ext>
            </a:extLst>
          </p:cNvPr>
          <p:cNvSpPr txBox="1"/>
          <p:nvPr/>
        </p:nvSpPr>
        <p:spPr>
          <a:xfrm>
            <a:off x="675943" y="2290227"/>
            <a:ext cx="10685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이번 챕터에서는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Next.js,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순수한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HTML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구현할 수 있는 세가지 방법을 살펴보았습니다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Chakra 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다양하고 훌륭한 컴포넌트를 제공하지만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리액트에서만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사용할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반면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TailwindCSS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완전히 프레임워크에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비종속적입니다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따라서 어떤 웹 프레임워크나 기술을 써도 적용할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0235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color">
      <a:dk1>
        <a:sysClr val="windowText" lastClr="000000"/>
      </a:dk1>
      <a:lt1>
        <a:sysClr val="window" lastClr="FFFFFF"/>
      </a:lt1>
      <a:dk2>
        <a:srgbClr val="D0CECE"/>
      </a:dk2>
      <a:lt2>
        <a:srgbClr val="E7E6E6"/>
      </a:lt2>
      <a:accent1>
        <a:srgbClr val="B98A76"/>
      </a:accent1>
      <a:accent2>
        <a:srgbClr val="DE956D"/>
      </a:accent2>
      <a:accent3>
        <a:srgbClr val="F6CAAF"/>
      </a:accent3>
      <a:accent4>
        <a:srgbClr val="EED6BC"/>
      </a:accent4>
      <a:accent5>
        <a:srgbClr val="E1D9CC"/>
      </a:accent5>
      <a:accent6>
        <a:srgbClr val="D8B8A9"/>
      </a:accent6>
      <a:hlink>
        <a:srgbClr val="595959"/>
      </a:hlink>
      <a:folHlink>
        <a:srgbClr val="595959"/>
      </a:folHlink>
    </a:clrScheme>
    <a:fontScheme name="이롭게 바탕체 Medium">
      <a:majorFont>
        <a:latin typeface="이롭게 바탕체 Medium"/>
        <a:ea typeface="이롭게 바탕체 Medium"/>
        <a:cs typeface=""/>
      </a:majorFont>
      <a:minorFont>
        <a:latin typeface="이롭게 바탕체 Medium"/>
        <a:ea typeface="이롭게 바탕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solidFill>
              <a:srgbClr val="554F4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</TotalTime>
  <Words>1650</Words>
  <Application>Microsoft Office PowerPoint</Application>
  <PresentationFormat>와이드스크린</PresentationFormat>
  <Paragraphs>168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나눔스퀘어_ac Bold</vt:lpstr>
      <vt:lpstr>나눔스퀘어_ac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한결 최</cp:lastModifiedBy>
  <cp:revision>103</cp:revision>
  <dcterms:created xsi:type="dcterms:W3CDTF">2020-05-03T01:37:17Z</dcterms:created>
  <dcterms:modified xsi:type="dcterms:W3CDTF">2024-04-11T03:50:12Z</dcterms:modified>
</cp:coreProperties>
</file>