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66" r:id="rId2"/>
    <p:sldId id="288" r:id="rId3"/>
    <p:sldId id="289" r:id="rId4"/>
    <p:sldId id="290" r:id="rId5"/>
    <p:sldId id="291" r:id="rId6"/>
    <p:sldId id="292" r:id="rId7"/>
    <p:sldId id="293" r:id="rId8"/>
    <p:sldId id="299" r:id="rId9"/>
    <p:sldId id="294" r:id="rId10"/>
    <p:sldId id="295" r:id="rId11"/>
    <p:sldId id="296" r:id="rId12"/>
    <p:sldId id="297" r:id="rId13"/>
    <p:sldId id="298" r:id="rId14"/>
  </p:sldIdLst>
  <p:sldSz cx="12192000" cy="6858000"/>
  <p:notesSz cx="6858000" cy="9144000"/>
  <p:embeddedFontLst>
    <p:embeddedFont>
      <p:font typeface="나눔스퀘어 ExtraBold" panose="020B0600000101010101" pitchFamily="50" charset="-127"/>
      <p:bold r:id="rId15"/>
    </p:embeddedFont>
    <p:embeddedFont>
      <p:font typeface="나눔스퀘어_ac Bold" panose="020B0600000101010101" pitchFamily="50" charset="-127"/>
      <p:bold r:id="rId16"/>
    </p:embeddedFont>
    <p:embeddedFont>
      <p:font typeface="나눔스퀘어_ac ExtraBold" panose="020B0600000101010101" pitchFamily="50" charset="-127"/>
      <p:bold r:id="rId17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55D5B"/>
    <a:srgbClr val="E2CBB7"/>
    <a:srgbClr val="EEE9E2"/>
    <a:srgbClr val="FCF7F2"/>
    <a:srgbClr val="554F4D"/>
    <a:srgbClr val="D0C4B0"/>
    <a:srgbClr val="E1D9CC"/>
    <a:srgbClr val="F2E0CA"/>
    <a:srgbClr val="F6E9DA"/>
    <a:srgbClr val="706866"/>
  </p:clrMru>
  <p:extLst>
    <p:ext uri="{E76CE94A-603C-4142-B9EB-6D1370010A27}">
      <p14:discardImageEditData xmlns:p14="http://schemas.microsoft.com/office/powerpoint/2010/main" val="1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 showGuides="1">
      <p:cViewPr varScale="1">
        <p:scale>
          <a:sx n="113" d="100"/>
          <a:sy n="113" d="100"/>
        </p:scale>
        <p:origin x="510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DF8F012-0AC3-42B2-90CA-BC5405C6B2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B5097188-C232-41BC-A1C6-677F6D6FD9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CACDF9E-AFBC-4D2D-A688-7BE38874AF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3408E7-38C9-4D32-A2B6-C3765899F2A5}" type="datetimeFigureOut">
              <a:rPr lang="ko-KR" altLang="en-US" smtClean="0"/>
              <a:t>2023-05-26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1D59E12-6FA5-449B-95B8-54226925F9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999C277-1836-4E22-BB5C-32FD2C8AC1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A54EA-75EF-4CE9-B3B8-A709779C824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9258466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79D55B9-E8A9-4A30-91F8-3A87B484D6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AF38375-52A4-4DFC-94A7-02AAFB2D3B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2CB85B4-E71D-494F-A759-4D10E06496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3408E7-38C9-4D32-A2B6-C3765899F2A5}" type="datetimeFigureOut">
              <a:rPr lang="ko-KR" altLang="en-US" smtClean="0"/>
              <a:t>2023-05-26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D9F9B02-3085-4385-A3F2-BCBAF40638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DB66A0F-23CB-48F3-98F5-EEB498F0EC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A54EA-75EF-4CE9-B3B8-A709779C824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078544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B00C255-11F9-437C-BD0A-8C83302711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A716960-288E-40FA-BAC1-95E652A0A3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B49145B-4748-48A7-8B68-AB10D9C372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3408E7-38C9-4D32-A2B6-C3765899F2A5}" type="datetimeFigureOut">
              <a:rPr lang="ko-KR" altLang="en-US" smtClean="0"/>
              <a:t>2023-05-26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0243DA5-62AB-4B07-ACF4-66F7F1517F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D15D854-17FC-4344-B33A-2133F9CD90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A54EA-75EF-4CE9-B3B8-A709779C824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8252042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D979294-4C29-4FF2-94D5-64F5E01A43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3482D1B-E38A-4915-8F19-5833301E12E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70A86B2-4BE5-4BDC-8321-2402D0BA90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236FE4B-E0B7-4187-9969-8E7CF3FFF7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3408E7-38C9-4D32-A2B6-C3765899F2A5}" type="datetimeFigureOut">
              <a:rPr lang="ko-KR" altLang="en-US" smtClean="0"/>
              <a:t>2023-05-26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9CEF1A5-E0D7-4286-84FF-F03473331A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B93F695-D9D7-4B6A-A576-900181532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A54EA-75EF-4CE9-B3B8-A709779C824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800450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C6B6A37-6DCD-490D-ACB4-5A4BBFDBFD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FFBFDDF-C043-4373-B751-DEDFFD2FC8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34EDD22-3F2F-4C29-86F7-886E17AD5D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2FDB57E-3DFC-4612-B7AB-FEDC5F86766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12070CB-C54B-46A0-945F-190DC02805B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1BCDECCA-E76A-451A-AAFF-603D887EC8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3408E7-38C9-4D32-A2B6-C3765899F2A5}" type="datetimeFigureOut">
              <a:rPr lang="ko-KR" altLang="en-US" smtClean="0"/>
              <a:t>2023-05-26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EBFC4C5F-2E37-4C43-933D-AA5036CC3A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75C55A0B-AD1F-4D77-BB32-6CA2B481D3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A54EA-75EF-4CE9-B3B8-A709779C824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1108434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D58ABC6-A533-4172-AFC1-84E430BAED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44D0A85-6CE5-4FE0-A839-22468B8A24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3408E7-38C9-4D32-A2B6-C3765899F2A5}" type="datetimeFigureOut">
              <a:rPr lang="ko-KR" altLang="en-US" smtClean="0"/>
              <a:t>2023-05-26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E1ABEBE-2706-4558-85F8-2436A72CE7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87E30B7-49F1-44C9-8825-1306CA43F2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A54EA-75EF-4CE9-B3B8-A709779C824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1826769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2E509C7A-604B-447A-A0E7-827B9D622D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3408E7-38C9-4D32-A2B6-C3765899F2A5}" type="datetimeFigureOut">
              <a:rPr lang="ko-KR" altLang="en-US" smtClean="0"/>
              <a:t>2023-05-26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C0E42BB5-D3ED-4C8D-8CA7-4619BE485A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B1CFFE1-D135-48B9-9A6D-A2FD7C7A4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A54EA-75EF-4CE9-B3B8-A709779C824C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DBDC539-7512-4226-9223-DA48FCD0E2DE}"/>
              </a:ext>
            </a:extLst>
          </p:cNvPr>
          <p:cNvSpPr txBox="1"/>
          <p:nvPr userDrawn="1"/>
        </p:nvSpPr>
        <p:spPr>
          <a:xfrm>
            <a:off x="9886440" y="6588607"/>
            <a:ext cx="231505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ⓒSaebyeol Yu.</a:t>
            </a: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 </a:t>
            </a:r>
            <a:r>
              <a:rPr lang="en-US" altLang="ko-KR" sz="9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Saebyeol’s</a:t>
            </a: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 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PowerPoint</a:t>
            </a:r>
            <a:endParaRPr lang="ko-KR" altLang="en-US" sz="900" dirty="0">
              <a:solidFill>
                <a:schemeClr val="tx1">
                  <a:lumMod val="75000"/>
                  <a:lumOff val="25000"/>
                </a:schemeClr>
              </a:solidFill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014176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BABF424-516E-45C7-A9E1-790BDAF165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B59E1ED-69B1-48EF-95E3-4A0BA178F5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0E19A3F-94D9-442E-8D70-BDFA73E9A3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F0EBF51-806D-4FB3-AA11-4F6B7DB73D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3408E7-38C9-4D32-A2B6-C3765899F2A5}" type="datetimeFigureOut">
              <a:rPr lang="ko-KR" altLang="en-US" smtClean="0"/>
              <a:t>2023-05-26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D593E20-D7A7-4DD2-AAB9-1257F61BCF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CD3B0FD-CAB2-4FFC-997F-FB326DD39B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A54EA-75EF-4CE9-B3B8-A709779C824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837919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A98EB20-48F7-48B8-A6B9-0261B6BAF6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3C436F32-78E7-4C89-8734-475421D356D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43D526B-EDAF-4888-AA56-44BF7C8325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94E3DFB-8B04-43A4-BE6C-21E482379E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3408E7-38C9-4D32-A2B6-C3765899F2A5}" type="datetimeFigureOut">
              <a:rPr lang="ko-KR" altLang="en-US" smtClean="0"/>
              <a:t>2023-05-26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D57F976-D309-4D60-B0A1-43C6E5742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30BA7C4-51F1-47C6-A321-2DF8E67748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A54EA-75EF-4CE9-B3B8-A709779C824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430266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DBD1FB7-E6E4-4153-8540-BFF436E936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D0FDF1D-719A-4B33-9023-7CE4316AD2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1B4EE70-389B-46DE-9265-B822FBD146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3408E7-38C9-4D32-A2B6-C3765899F2A5}" type="datetimeFigureOut">
              <a:rPr lang="ko-KR" altLang="en-US" smtClean="0"/>
              <a:t>2023-05-26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AB0A08D-1ADA-4909-B351-23A9DB5B0E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EC96274-6782-43A2-9D65-26D48D5907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A54EA-75EF-4CE9-B3B8-A709779C824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6480498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FEFF69C1-F07A-44E0-8804-DBF0B91EEA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6152B80-F8D2-4FB9-9913-48A227D65E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F051D35-AC5D-4009-B23F-239D9EE53F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3408E7-38C9-4D32-A2B6-C3765899F2A5}" type="datetimeFigureOut">
              <a:rPr lang="ko-KR" altLang="en-US" smtClean="0"/>
              <a:t>2023-05-26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C31EDF0-F5CD-4184-B8F2-C877766D19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2802437-6EA8-4A9E-A143-795A149A4C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A54EA-75EF-4CE9-B3B8-A709779C824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9535492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FD2F9EDB-7AE4-4C48-838E-CA5C2DF58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5327EBC-3E3B-474E-83E1-C087A70D0A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223D1C1-8BAB-48B1-8A81-361F734B390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defRPr>
            </a:lvl1pPr>
          </a:lstStyle>
          <a:p>
            <a:fld id="{B13408E7-38C9-4D32-A2B6-C3765899F2A5}" type="datetimeFigureOut">
              <a:rPr lang="ko-KR" altLang="en-US" smtClean="0"/>
              <a:pPr/>
              <a:t>2023-05-26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B2D174B-CCB9-47F1-8F37-F86E3A59145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C165FA4-90E6-4929-90D4-6FF8E70A02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defRPr>
            </a:lvl1pPr>
          </a:lstStyle>
          <a:p>
            <a:fld id="{354A54EA-75EF-4CE9-B3B8-A709779C824C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44334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나눔스퀘어_ac ExtraBold" panose="020B0600000101010101" pitchFamily="50" charset="-127"/>
          <a:ea typeface="나눔스퀘어_ac ExtraBold" panose="020B0600000101010101" pitchFamily="50" charset="-127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나눔스퀘어_ac ExtraBold" panose="020B0600000101010101" pitchFamily="50" charset="-127"/>
          <a:ea typeface="나눔스퀘어_ac ExtraBold" panose="020B0600000101010101" pitchFamily="50" charset="-127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나눔스퀘어_ac ExtraBold" panose="020B0600000101010101" pitchFamily="50" charset="-127"/>
          <a:ea typeface="나눔스퀘어_ac ExtraBold" panose="020B0600000101010101" pitchFamily="50" charset="-127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나눔스퀘어_ac ExtraBold" panose="020B0600000101010101" pitchFamily="50" charset="-127"/>
          <a:ea typeface="나눔스퀘어_ac ExtraBold" panose="020B0600000101010101" pitchFamily="50" charset="-127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나눔스퀘어_ac ExtraBold" panose="020B0600000101010101" pitchFamily="50" charset="-127"/>
          <a:ea typeface="나눔스퀘어_ac ExtraBold" panose="020B0600000101010101" pitchFamily="50" charset="-127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나눔스퀘어_ac ExtraBold" panose="020B0600000101010101" pitchFamily="50" charset="-127"/>
          <a:ea typeface="나눔스퀘어_ac ExtraBold" panose="020B0600000101010101" pitchFamily="50" charset="-127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2CBB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CE8DB10-764D-45FC-AB61-1DD0D37C8E80}"/>
              </a:ext>
            </a:extLst>
          </p:cNvPr>
          <p:cNvSpPr txBox="1"/>
          <p:nvPr/>
        </p:nvSpPr>
        <p:spPr>
          <a:xfrm>
            <a:off x="2658084" y="2083650"/>
            <a:ext cx="6571030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5000" dirty="0">
                <a:solidFill>
                  <a:srgbClr val="655D5B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CHAPTER 10</a:t>
            </a:r>
          </a:p>
          <a:p>
            <a:pPr algn="ctr"/>
            <a:r>
              <a:rPr lang="ko-KR" altLang="en-US" sz="5000" dirty="0">
                <a:solidFill>
                  <a:srgbClr val="655D5B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유닉스의 역사와 아키텍처</a:t>
            </a:r>
            <a:endParaRPr lang="ko-KR" altLang="en-US" sz="5000" dirty="0">
              <a:solidFill>
                <a:srgbClr val="655D5B"/>
              </a:solidFill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461205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D45A5B82-5CCC-4A00-B9DD-C58D174766AA}"/>
              </a:ext>
            </a:extLst>
          </p:cNvPr>
          <p:cNvSpPr txBox="1"/>
          <p:nvPr/>
        </p:nvSpPr>
        <p:spPr>
          <a:xfrm>
            <a:off x="811411" y="350594"/>
            <a:ext cx="382832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2000" dirty="0">
                <a:solidFill>
                  <a:srgbClr val="554F4D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10.1.1 </a:t>
            </a:r>
            <a:r>
              <a:rPr lang="ko-KR" altLang="en-US" sz="2000" dirty="0" err="1">
                <a:solidFill>
                  <a:srgbClr val="554F4D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멀틱스와</a:t>
            </a:r>
            <a:r>
              <a:rPr lang="ko-KR" altLang="en-US" sz="2000" dirty="0">
                <a:solidFill>
                  <a:srgbClr val="554F4D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 유닉스</a:t>
            </a:r>
            <a:endParaRPr lang="en-US" altLang="ko-KR" sz="2000" dirty="0">
              <a:solidFill>
                <a:srgbClr val="554F4D"/>
              </a:solidFill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9F450324-20B0-49CF-97E3-AFFE69842BFD}"/>
              </a:ext>
            </a:extLst>
          </p:cNvPr>
          <p:cNvSpPr/>
          <p:nvPr/>
        </p:nvSpPr>
        <p:spPr>
          <a:xfrm>
            <a:off x="-5" y="-1"/>
            <a:ext cx="86586" cy="6876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32F76AF-67C3-733F-CB76-165158CA4657}"/>
              </a:ext>
            </a:extLst>
          </p:cNvPr>
          <p:cNvSpPr txBox="1"/>
          <p:nvPr/>
        </p:nvSpPr>
        <p:spPr>
          <a:xfrm>
            <a:off x="811410" y="943261"/>
            <a:ext cx="10330723" cy="3754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유닉스 이전에 </a:t>
            </a:r>
            <a:r>
              <a:rPr lang="ko-KR" altLang="en-US" sz="1700" dirty="0" err="1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멀틱스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OS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가 있었습니다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 </a:t>
            </a:r>
            <a:r>
              <a:rPr lang="ko-KR" altLang="en-US" sz="1700" dirty="0" err="1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멀틱스는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MIT, GE, 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벨 연구소가 주도한 협력 프로젝트로 큰 성공을 거두었습니다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 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그 이후 벨 연구소에서는 더 단순하고 더 효율적인 운영체제를 고안했는데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, 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바로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유닉스였습니다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 </a:t>
            </a:r>
          </a:p>
          <a:p>
            <a:pPr algn="l"/>
            <a:endParaRPr lang="en-US" altLang="ko-KR" sz="1700" dirty="0">
              <a:solidFill>
                <a:srgbClr val="554F4D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 marL="285750" indent="-285750" algn="l">
              <a:buFontTx/>
              <a:buChar char="-"/>
            </a:pPr>
            <a:r>
              <a:rPr lang="ko-KR" altLang="en-US" sz="1700" dirty="0" err="1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멀틱스와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유닉스 모두 내부구조로 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‘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양파처럼 여러 </a:t>
            </a:r>
            <a:r>
              <a:rPr lang="ko-KR" altLang="en-US" sz="1700" dirty="0" err="1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겹으로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구성된 링 모양의 아키텍처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＇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를 따릅니다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</a:p>
          <a:p>
            <a:pPr algn="l"/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   &gt;&gt; 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둘 다 아키텍처 내에 거의 같은 구조의 링이 있는데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, 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커널 링과 셸 링이 이에 해당합니다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 </a:t>
            </a:r>
          </a:p>
          <a:p>
            <a:pPr algn="l"/>
            <a:endParaRPr lang="en-US" altLang="ko-KR" sz="1700" dirty="0">
              <a:solidFill>
                <a:srgbClr val="554F4D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 marL="285750" indent="-285750" algn="l">
              <a:buFontTx/>
              <a:buChar char="-"/>
            </a:pPr>
            <a:r>
              <a:rPr lang="ko-KR" altLang="en-US" sz="1700" dirty="0" err="1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멀틱스는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작동하기 위해 비싼 자원과 </a:t>
            </a:r>
            <a:r>
              <a:rPr lang="ko-KR" altLang="en-US" sz="1700" dirty="0" err="1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머신이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필요했습니다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</a:p>
          <a:p>
            <a:pPr algn="l"/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    &gt;&gt;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평범한 상용 </a:t>
            </a:r>
            <a:r>
              <a:rPr lang="ko-KR" altLang="en-US" sz="1700" dirty="0" err="1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머신에는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ko-KR" altLang="en-US" sz="1700" dirty="0" err="1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멀틱스를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설치할 수 없다는 게 주요 단점이었고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, 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그 결과로 유닉스가 흥할 수 있었습니다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</a:p>
          <a:p>
            <a:pPr algn="l"/>
            <a:endParaRPr lang="en-US" altLang="ko-KR" sz="1700" dirty="0">
              <a:solidFill>
                <a:srgbClr val="554F4D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 marL="285750" indent="-285750" algn="l">
              <a:buFontTx/>
              <a:buChar char="-"/>
            </a:pPr>
            <a:r>
              <a:rPr lang="ko-KR" altLang="en-US" sz="1700" dirty="0" err="1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멀틱스는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설계가 복잡했습니다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</a:p>
          <a:p>
            <a:pPr algn="l"/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    &gt;&gt; 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벨 연구소가 </a:t>
            </a:r>
            <a:r>
              <a:rPr lang="ko-KR" altLang="en-US" sz="1700" dirty="0" err="1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멀틱스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프로젝트에서 손을 댄 이유이기도 합니다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 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그래서 유닉스는 단순함을 유지하려고 했습니다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</a:p>
          <a:p>
            <a:pPr algn="l"/>
            <a:endParaRPr lang="en-US" altLang="ko-KR" sz="1700" dirty="0">
              <a:solidFill>
                <a:srgbClr val="554F4D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 algn="l"/>
            <a:endParaRPr lang="en-US" altLang="ko-KR" sz="1700" dirty="0">
              <a:solidFill>
                <a:srgbClr val="554F4D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 algn="l"/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즉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, </a:t>
            </a:r>
            <a:r>
              <a:rPr lang="ko-KR" altLang="en-US" sz="1700" dirty="0" err="1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멀틱스가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제시한 아이디어와 혁신을 단순화한 결과가 유닉스라는 것 입니다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37F3544-979D-A0CE-1972-157C6E43203A}"/>
              </a:ext>
            </a:extLst>
          </p:cNvPr>
          <p:cNvSpPr txBox="1"/>
          <p:nvPr/>
        </p:nvSpPr>
        <p:spPr>
          <a:xfrm>
            <a:off x="10929078" y="350594"/>
            <a:ext cx="70412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1200" dirty="0">
                <a:solidFill>
                  <a:srgbClr val="554F4D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p.</a:t>
            </a:r>
            <a:r>
              <a:rPr lang="ko-KR" altLang="en-US" sz="1200" dirty="0">
                <a:solidFill>
                  <a:srgbClr val="554F4D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 </a:t>
            </a:r>
            <a:r>
              <a:rPr lang="en-US" altLang="ko-KR" sz="1200" dirty="0">
                <a:solidFill>
                  <a:srgbClr val="554F4D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376</a:t>
            </a:r>
          </a:p>
        </p:txBody>
      </p:sp>
    </p:spTree>
    <p:extLst>
      <p:ext uri="{BB962C8B-B14F-4D97-AF65-F5344CB8AC3E}">
        <p14:creationId xmlns:p14="http://schemas.microsoft.com/office/powerpoint/2010/main" val="35474189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D45A5B82-5CCC-4A00-B9DD-C58D174766AA}"/>
              </a:ext>
            </a:extLst>
          </p:cNvPr>
          <p:cNvSpPr txBox="1"/>
          <p:nvPr/>
        </p:nvSpPr>
        <p:spPr>
          <a:xfrm>
            <a:off x="675943" y="257460"/>
            <a:ext cx="382832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2000" dirty="0">
                <a:solidFill>
                  <a:srgbClr val="554F4D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10.1.2 BCPL</a:t>
            </a:r>
            <a:r>
              <a:rPr lang="ko-KR" altLang="en-US" sz="2000" dirty="0">
                <a:solidFill>
                  <a:srgbClr val="554F4D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과 </a:t>
            </a:r>
            <a:r>
              <a:rPr lang="en-US" altLang="ko-KR" sz="2000" dirty="0">
                <a:solidFill>
                  <a:srgbClr val="554F4D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B </a:t>
            </a: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9F450324-20B0-49CF-97E3-AFFE69842BFD}"/>
              </a:ext>
            </a:extLst>
          </p:cNvPr>
          <p:cNvSpPr/>
          <p:nvPr/>
        </p:nvSpPr>
        <p:spPr>
          <a:xfrm>
            <a:off x="-5" y="-1"/>
            <a:ext cx="86586" cy="6876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32F76AF-67C3-733F-CB76-165158CA4657}"/>
              </a:ext>
            </a:extLst>
          </p:cNvPr>
          <p:cNvSpPr txBox="1"/>
          <p:nvPr/>
        </p:nvSpPr>
        <p:spPr>
          <a:xfrm>
            <a:off x="675943" y="750704"/>
            <a:ext cx="10330723" cy="5847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BCPL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은 마틴 리처드가 만든 프로그래밍 언어로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, 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컴파일러를 작성할 목적으로 고안되었습니다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 </a:t>
            </a:r>
            <a:r>
              <a:rPr lang="ko-KR" altLang="en-US" sz="1700" dirty="0" err="1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멀틱스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프로젝트를 종료한 뒤 벨 연구소는 먼저 어셈블리어를 사용해 유닉스를 작성하기 시작했습니다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 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당시에는 어셈블리어가 아닌 프로그래밍 언어로 운영체제를 개발하는 것은 안티 패턴이었기 때문입니다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</a:p>
          <a:p>
            <a:pPr algn="l"/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BCPL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을 사용하려고 했지만 미니 컴퓨터에서 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BCPL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을 사용하려면 해당 언어의 몇몇 부분을 수정해야 했습니다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 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이러한 변화가 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B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언어를 낳았습니다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</a:p>
          <a:p>
            <a:pPr algn="l"/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B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는 시스템 프로그래밍 언어 관점에서 단점이 존재했습니다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 B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는 자료형이 없는 언어였는데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, 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바이트가 아니라 워드로만 작업할 수 있었다는 의미입니다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 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따라서 워드의 길이가 다른 </a:t>
            </a:r>
            <a:r>
              <a:rPr lang="ko-KR" altLang="en-US" sz="1700" dirty="0" err="1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머신에서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B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언어를 사용하기는 어려웠습니다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</a:p>
          <a:p>
            <a:pPr algn="l"/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이런 이유로 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NB(New B)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언어를 개발할 때까지 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B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언어는 계속해서 수정되어야 했고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, 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나중에 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B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언어로부터 구조체가 유래됩니다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 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이러한 구조체는 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B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언어에는 없었지만 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C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에서는 자료형이 생겼습니다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</a:p>
          <a:p>
            <a:pPr algn="l"/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마침내 유닉스의 네번째 버전은 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C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를 이용해 개발되었습니다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</a:p>
          <a:p>
            <a:pPr algn="l"/>
            <a:endParaRPr lang="en-US" altLang="ko-KR" sz="1700" dirty="0">
              <a:solidFill>
                <a:srgbClr val="554F4D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 algn="l"/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C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를 만든 이유</a:t>
            </a:r>
            <a:endParaRPr lang="en-US" altLang="ko-KR" sz="1700" dirty="0">
              <a:solidFill>
                <a:srgbClr val="554F4D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 marL="285750" indent="-285750" algn="l">
              <a:buFontTx/>
              <a:buChar char="-"/>
            </a:pP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B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는 메모리에서만 워드를 사용할 수 있었습니다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</a:p>
          <a:p>
            <a:pPr marL="285750" indent="-285750" algn="l">
              <a:buFontTx/>
              <a:buChar char="-"/>
            </a:pP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B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는 자료형이 없었습니다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</a:p>
          <a:p>
            <a:pPr marL="285750" indent="-285750" algn="l">
              <a:buFontTx/>
              <a:buChar char="-"/>
            </a:pP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자료형이 없다는 것은 문자열 조작 </a:t>
            </a:r>
            <a:r>
              <a:rPr lang="ko-KR" altLang="en-US" sz="1700" dirty="0" err="1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알고리듬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같은 </a:t>
            </a:r>
            <a:r>
              <a:rPr lang="ko-KR" altLang="en-US" sz="1700" dirty="0" err="1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멀티바이트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지향 </a:t>
            </a:r>
            <a:r>
              <a:rPr lang="ko-KR" altLang="en-US" sz="1700" dirty="0" err="1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알고리듬이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B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에서 효율적으로 작성될 수 없음을 의미합니다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</a:p>
          <a:p>
            <a:pPr marL="285750" indent="-285750" algn="l">
              <a:buFontTx/>
              <a:buChar char="-"/>
            </a:pP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B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는 부동소수점 연산을 지원하지 않았습니다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</a:p>
          <a:p>
            <a:pPr marL="285750" indent="-285750" algn="l">
              <a:buFontTx/>
              <a:buChar char="-"/>
            </a:pP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프로그램이 메모리에서 특정 바이트 또는 한 바이트 범위에 접근하려고 할 때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, 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해당하는 워드 인덱스를 계산하려면 더 많이 연산해야 했습니다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</a:p>
          <a:p>
            <a:pPr marL="285750" indent="-285750" algn="l">
              <a:buFontTx/>
              <a:buChar char="-"/>
            </a:pPr>
            <a:endParaRPr lang="en-US" altLang="ko-KR" sz="1700" dirty="0">
              <a:solidFill>
                <a:srgbClr val="554F4D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 algn="l"/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새로 개발된 언어인 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C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는 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B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의 어려움과 단점을 보완하려 했으며 사실상 어셈블리어를 대신하는 시스템 개발 프로그래밍 언어가 되었습니다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06C226D-45B3-65EF-F280-4B9A9403A778}"/>
              </a:ext>
            </a:extLst>
          </p:cNvPr>
          <p:cNvSpPr txBox="1"/>
          <p:nvPr/>
        </p:nvSpPr>
        <p:spPr>
          <a:xfrm>
            <a:off x="10929078" y="350594"/>
            <a:ext cx="70412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1200" dirty="0">
                <a:solidFill>
                  <a:srgbClr val="554F4D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p.</a:t>
            </a:r>
            <a:r>
              <a:rPr lang="ko-KR" altLang="en-US" sz="1200" dirty="0">
                <a:solidFill>
                  <a:srgbClr val="554F4D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 </a:t>
            </a:r>
            <a:r>
              <a:rPr lang="en-US" altLang="ko-KR" sz="1200" dirty="0">
                <a:solidFill>
                  <a:srgbClr val="554F4D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378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444C7D5-D0E4-0B23-6652-0D280710C738}"/>
              </a:ext>
            </a:extLst>
          </p:cNvPr>
          <p:cNvSpPr txBox="1"/>
          <p:nvPr/>
        </p:nvSpPr>
        <p:spPr>
          <a:xfrm>
            <a:off x="10929078" y="3536081"/>
            <a:ext cx="70412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1200" dirty="0">
                <a:solidFill>
                  <a:srgbClr val="554F4D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p.</a:t>
            </a:r>
            <a:r>
              <a:rPr lang="ko-KR" altLang="en-US" sz="1200" dirty="0">
                <a:solidFill>
                  <a:srgbClr val="554F4D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 </a:t>
            </a:r>
            <a:r>
              <a:rPr lang="en-US" altLang="ko-KR" sz="1200" dirty="0">
                <a:solidFill>
                  <a:srgbClr val="554F4D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380</a:t>
            </a:r>
          </a:p>
        </p:txBody>
      </p:sp>
    </p:spTree>
    <p:extLst>
      <p:ext uri="{BB962C8B-B14F-4D97-AF65-F5344CB8AC3E}">
        <p14:creationId xmlns:p14="http://schemas.microsoft.com/office/powerpoint/2010/main" val="310260952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D45A5B82-5CCC-4A00-B9DD-C58D174766AA}"/>
              </a:ext>
            </a:extLst>
          </p:cNvPr>
          <p:cNvSpPr txBox="1"/>
          <p:nvPr/>
        </p:nvSpPr>
        <p:spPr>
          <a:xfrm>
            <a:off x="675943" y="257460"/>
            <a:ext cx="382832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2000" dirty="0">
                <a:solidFill>
                  <a:srgbClr val="554F4D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10.2.1 </a:t>
            </a:r>
            <a:r>
              <a:rPr lang="ko-KR" altLang="en-US" sz="2000" dirty="0">
                <a:solidFill>
                  <a:srgbClr val="554F4D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철학</a:t>
            </a:r>
            <a:endParaRPr lang="en-US" altLang="ko-KR" sz="2000" dirty="0">
              <a:solidFill>
                <a:srgbClr val="554F4D"/>
              </a:solidFill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9F450324-20B0-49CF-97E3-AFFE69842BFD}"/>
              </a:ext>
            </a:extLst>
          </p:cNvPr>
          <p:cNvSpPr/>
          <p:nvPr/>
        </p:nvSpPr>
        <p:spPr>
          <a:xfrm>
            <a:off x="-5" y="-1"/>
            <a:ext cx="86586" cy="6876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32F76AF-67C3-733F-CB76-165158CA4657}"/>
              </a:ext>
            </a:extLst>
          </p:cNvPr>
          <p:cNvSpPr txBox="1"/>
          <p:nvPr/>
        </p:nvSpPr>
        <p:spPr>
          <a:xfrm>
            <a:off x="675943" y="750704"/>
            <a:ext cx="10330723" cy="50629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buFontTx/>
              <a:buChar char="-"/>
            </a:pP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유닉스는 일반적인 최종 사용자가 아니니 개발자를 위해 설계 및 개발되었습니다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  <a:endParaRPr lang="en-US" altLang="ko-KR" sz="900" dirty="0">
              <a:solidFill>
                <a:srgbClr val="554F4D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 algn="l"/>
            <a:endParaRPr lang="en-US" altLang="ko-KR" sz="1700" dirty="0">
              <a:solidFill>
                <a:srgbClr val="554F4D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 marL="285750" indent="-285750" algn="l">
              <a:buFontTx/>
              <a:buChar char="-"/>
            </a:pP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유닉스 시스템은 작고 단순한 여러 프로그램으로 구성됩니다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</a:p>
          <a:p>
            <a:pPr algn="l"/>
            <a:endParaRPr lang="en-US" altLang="ko-KR" sz="1700" dirty="0">
              <a:solidFill>
                <a:srgbClr val="554F4D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 marL="285750" indent="-285750" algn="l">
              <a:buFontTx/>
              <a:buChar char="-"/>
            </a:pP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복잡한 일은 작고 단순한 프로그램을 연쇄적으로 실행해서 수행할 수 있습니다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</a:p>
          <a:p>
            <a:pPr algn="l"/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    &gt;&gt; 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셸 스크립트는 유닉스 시스템 간에 빈번하게 이식될 수 있으며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, 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유닉스는 개발자가 크고 복잡한 프로그램을 작고 단    </a:t>
            </a:r>
            <a:endParaRPr lang="en-US" altLang="ko-KR" sz="1700" dirty="0">
              <a:solidFill>
                <a:srgbClr val="554F4D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 algn="l"/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          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순한 프로그램으로 나누도록 장려합니다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</a:p>
          <a:p>
            <a:pPr algn="l"/>
            <a:endParaRPr lang="en-US" altLang="ko-KR" sz="1700" dirty="0">
              <a:solidFill>
                <a:srgbClr val="554F4D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 marL="285750" indent="-285750" algn="l">
              <a:buFontTx/>
              <a:buChar char="-"/>
            </a:pP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각각의 작고 단순한 프로그램은 출력 결과를 다른 프로그램의 입력으로 전달할 수 있어야 하며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, 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이 체인은 계속 이어져야 합니다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</a:p>
          <a:p>
            <a:pPr algn="l"/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   &gt;&gt; 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이러한 방식으로 복잡한 일을 수행할 능력이 있는 체인으로 작은 프로그램을 사용할 수 있습니다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</a:p>
          <a:p>
            <a:pPr algn="l"/>
            <a:endParaRPr lang="en-US" altLang="ko-KR" sz="1700" dirty="0">
              <a:solidFill>
                <a:srgbClr val="554F4D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 marL="285750" indent="-285750" algn="l">
              <a:buFontTx/>
              <a:buChar char="-"/>
            </a:pP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유닉스는 매우 문자 지향적입니다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</a:p>
          <a:p>
            <a:pPr algn="l"/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    &gt;&gt; 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모든 환경 설정은 텍스트 파일로 되어있으며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, 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문자로 된 명령어를 가집니다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</a:p>
          <a:p>
            <a:pPr algn="l"/>
            <a:endParaRPr lang="en-US" altLang="ko-KR" sz="1700" dirty="0">
              <a:solidFill>
                <a:srgbClr val="554F4D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 marL="285750" indent="-285750" algn="l">
              <a:buFontTx/>
              <a:buChar char="-"/>
            </a:pP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유닉스는 완벽함보다 간결합을 선택하도록 제안합니다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</a:p>
          <a:p>
            <a:pPr algn="l"/>
            <a:endParaRPr lang="en-US" altLang="ko-KR" sz="1700" dirty="0">
              <a:solidFill>
                <a:srgbClr val="554F4D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 marL="285750" indent="-285750" algn="l">
              <a:buFontTx/>
              <a:buChar char="-"/>
            </a:pP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어떤 유닉스 호환 운영체제에 대해 작성된 프로그램은 다른 유닉스 시스템에서도 쉽게 사용할 수 있어야 합니다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</a:p>
          <a:p>
            <a:pPr marL="285750" indent="-285750" algn="l">
              <a:buFontTx/>
              <a:buChar char="-"/>
            </a:pPr>
            <a:endParaRPr lang="en-US" altLang="ko-KR" sz="1700" dirty="0">
              <a:solidFill>
                <a:srgbClr val="554F4D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43EBE97-8698-0D11-B65A-3B265BE1800B}"/>
              </a:ext>
            </a:extLst>
          </p:cNvPr>
          <p:cNvSpPr txBox="1"/>
          <p:nvPr/>
        </p:nvSpPr>
        <p:spPr>
          <a:xfrm>
            <a:off x="11033456" y="257460"/>
            <a:ext cx="70412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1200" dirty="0">
                <a:solidFill>
                  <a:srgbClr val="554F4D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p.</a:t>
            </a:r>
            <a:r>
              <a:rPr lang="ko-KR" altLang="en-US" sz="1200" dirty="0">
                <a:solidFill>
                  <a:srgbClr val="554F4D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 </a:t>
            </a:r>
            <a:r>
              <a:rPr lang="en-US" altLang="ko-KR" sz="1200" dirty="0">
                <a:solidFill>
                  <a:srgbClr val="554F4D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382</a:t>
            </a:r>
          </a:p>
        </p:txBody>
      </p:sp>
    </p:spTree>
    <p:extLst>
      <p:ext uri="{BB962C8B-B14F-4D97-AF65-F5344CB8AC3E}">
        <p14:creationId xmlns:p14="http://schemas.microsoft.com/office/powerpoint/2010/main" val="13948732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D45A5B82-5CCC-4A00-B9DD-C58D174766AA}"/>
              </a:ext>
            </a:extLst>
          </p:cNvPr>
          <p:cNvSpPr txBox="1"/>
          <p:nvPr/>
        </p:nvSpPr>
        <p:spPr>
          <a:xfrm>
            <a:off x="675943" y="257460"/>
            <a:ext cx="382832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2000" dirty="0">
                <a:solidFill>
                  <a:srgbClr val="554F4D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10.2.2 </a:t>
            </a:r>
            <a:r>
              <a:rPr lang="ko-KR" altLang="en-US" sz="2000" dirty="0">
                <a:solidFill>
                  <a:srgbClr val="554F4D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유닉스 링</a:t>
            </a:r>
            <a:endParaRPr lang="en-US" altLang="ko-KR" sz="2000" dirty="0">
              <a:solidFill>
                <a:srgbClr val="554F4D"/>
              </a:solidFill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9F450324-20B0-49CF-97E3-AFFE69842BFD}"/>
              </a:ext>
            </a:extLst>
          </p:cNvPr>
          <p:cNvSpPr/>
          <p:nvPr/>
        </p:nvSpPr>
        <p:spPr>
          <a:xfrm>
            <a:off x="-5" y="-1"/>
            <a:ext cx="86586" cy="6876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5FAC5FA3-87D3-E2AF-5613-1C70C6776A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134" y="1837141"/>
            <a:ext cx="3047780" cy="281105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DBD5032-A1A2-0257-6C09-8BD025AC75B6}"/>
              </a:ext>
            </a:extLst>
          </p:cNvPr>
          <p:cNvSpPr txBox="1"/>
          <p:nvPr/>
        </p:nvSpPr>
        <p:spPr>
          <a:xfrm>
            <a:off x="3981467" y="1517815"/>
            <a:ext cx="7849990" cy="40164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링 모델은 유닉스의 전반적인 아키텍처를 묘사할 수 있습니다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 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이는 몇 겹의 링으로 구성되기 때문에 양파 같은 모양이며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, 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링 각각은 내부의 링을 감싸는 래퍼로 가능합니다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</a:p>
          <a:p>
            <a:pPr algn="l"/>
            <a:endParaRPr lang="en-US" altLang="ko-KR" sz="1700" dirty="0">
              <a:solidFill>
                <a:srgbClr val="554F4D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 algn="l"/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링 모델의 핵에는 </a:t>
            </a:r>
            <a:r>
              <a:rPr lang="ko-KR" altLang="en-US" sz="1700" b="1" dirty="0">
                <a:solidFill>
                  <a:schemeClr val="accent2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하드웨어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가 있습니다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 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운영체제의 주요 임무는 사용자가 하드웨어와 상호작용해 하드웨어를 사용할 수 있게 하는 것입니다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 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즉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, 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하드웨어에 접근하려는 프로그램이 하드웨어를 사용할 수 있도록 하는 것이 유닉스의 주요 목표입니다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 </a:t>
            </a:r>
          </a:p>
          <a:p>
            <a:pPr algn="l"/>
            <a:endParaRPr lang="en-US" altLang="ko-KR" sz="1700" dirty="0">
              <a:solidFill>
                <a:srgbClr val="554F4D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 algn="l"/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하드웨어를 둘러싼 링은 </a:t>
            </a:r>
            <a:r>
              <a:rPr lang="ko-KR" altLang="en-US" sz="1700" dirty="0">
                <a:solidFill>
                  <a:schemeClr val="accent2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커널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입니다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 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커널은 운영체제에서 가장 중요한 부분입니다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 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하드웨어와 가장 가까운 층이고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, 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하드웨어에 직접 부착된 기능을 드러내는 래퍼의 역할을 하기 때문입니다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 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이렇게 직접적으로 접근할 수 있으므로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, 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커널은 시스템의 전체 자원을 이용할 수 있는 가장 높은 권한을 갖습니다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 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커널 링이 모든 대상에 제한없이 접근할 수 있는 만큼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, 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다른 링은 무제한적인 접근 권한을 갖지 않습니다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</a:p>
          <a:p>
            <a:pPr algn="l"/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책의 링 모델 사진을 보면 커널 링이 다른 링보다 두껍게 그려져 있는 걸 확인할 수 있는데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, 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유닉스 커널 내부에는 많은 다양한 유닛이 존재하며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, 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유닛 각각은 유닉스 생태계에서 필수적인 역할을 합니다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B9C89EE-488B-1AFA-844E-33A0F5EE24B6}"/>
              </a:ext>
            </a:extLst>
          </p:cNvPr>
          <p:cNvSpPr txBox="1"/>
          <p:nvPr/>
        </p:nvSpPr>
        <p:spPr>
          <a:xfrm>
            <a:off x="11103325" y="257460"/>
            <a:ext cx="70412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1200" dirty="0">
                <a:solidFill>
                  <a:srgbClr val="554F4D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p.</a:t>
            </a:r>
            <a:r>
              <a:rPr lang="ko-KR" altLang="en-US" sz="1200" dirty="0">
                <a:solidFill>
                  <a:srgbClr val="554F4D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 </a:t>
            </a:r>
            <a:r>
              <a:rPr lang="en-US" altLang="ko-KR" sz="1200" dirty="0">
                <a:solidFill>
                  <a:srgbClr val="554F4D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384</a:t>
            </a:r>
          </a:p>
        </p:txBody>
      </p:sp>
    </p:spTree>
    <p:extLst>
      <p:ext uri="{BB962C8B-B14F-4D97-AF65-F5344CB8AC3E}">
        <p14:creationId xmlns:p14="http://schemas.microsoft.com/office/powerpoint/2010/main" val="328592077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D45A5B82-5CCC-4A00-B9DD-C58D174766AA}"/>
              </a:ext>
            </a:extLst>
          </p:cNvPr>
          <p:cNvSpPr txBox="1"/>
          <p:nvPr/>
        </p:nvSpPr>
        <p:spPr>
          <a:xfrm>
            <a:off x="675943" y="257460"/>
            <a:ext cx="382832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2000" dirty="0">
                <a:solidFill>
                  <a:srgbClr val="554F4D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10.2.2 </a:t>
            </a:r>
            <a:r>
              <a:rPr lang="ko-KR" altLang="en-US" sz="2000" dirty="0">
                <a:solidFill>
                  <a:srgbClr val="554F4D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유닉스 링</a:t>
            </a:r>
            <a:endParaRPr lang="en-US" altLang="ko-KR" sz="2000" dirty="0">
              <a:solidFill>
                <a:srgbClr val="554F4D"/>
              </a:solidFill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9F450324-20B0-49CF-97E3-AFFE69842BFD}"/>
              </a:ext>
            </a:extLst>
          </p:cNvPr>
          <p:cNvSpPr/>
          <p:nvPr/>
        </p:nvSpPr>
        <p:spPr>
          <a:xfrm>
            <a:off x="-5" y="-1"/>
            <a:ext cx="86586" cy="6876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5FAC5FA3-87D3-E2AF-5613-1C70C6776A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939" y="1896407"/>
            <a:ext cx="3047780" cy="281105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DBD5032-A1A2-0257-6C09-8BD025AC75B6}"/>
              </a:ext>
            </a:extLst>
          </p:cNvPr>
          <p:cNvSpPr txBox="1"/>
          <p:nvPr/>
        </p:nvSpPr>
        <p:spPr>
          <a:xfrm>
            <a:off x="4071077" y="1816914"/>
            <a:ext cx="7849990" cy="29700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다음 링은 </a:t>
            </a:r>
            <a:r>
              <a:rPr lang="ko-KR" altLang="en-US" sz="1700" dirty="0">
                <a:solidFill>
                  <a:schemeClr val="accent2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셸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입니다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 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사용자 응용프로그램이 커널과 상호작용해 커널의 여러 서비스를 사용할 수 있도록 하는 것이 커널 주변의 셸입니다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 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셸 링은 여러 작은 프로그램으로 구성됩니다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 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이들 프로그램은 사용자나 응용프로그램이 커널의 서비스를 사용할 수 있도록 하는 도구 모음을 형성합니다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 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또한 셸 링은 라이브러리 모음도 포함하는데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, 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이 라이브러리는 모두  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C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로 작성되었으며 이러한 라이브러리는 개발자가 유닉스를 위한 새 응용프로그램을 작성할 수 있도록 합니다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</a:p>
          <a:p>
            <a:pPr algn="l"/>
            <a:endParaRPr lang="en-US" altLang="ko-KR" sz="1700" dirty="0">
              <a:solidFill>
                <a:srgbClr val="554F4D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 algn="l"/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가장 바깥쪽 링인 사용자 </a:t>
            </a:r>
            <a:r>
              <a:rPr lang="ko-KR" altLang="en-US" sz="1700" dirty="0">
                <a:solidFill>
                  <a:schemeClr val="accent2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응용프로그램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은 유닉스 시스템에서 사용하기 위해 작성된 실제 모든 응용프로그램으로 구성됩니다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 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여기에는 데이터베이스 서비스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, 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웹 서비스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, 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메일 서비스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, 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웹 브라우저 등이 있습니다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 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이러한 응용프로그램은 임무를 완수하기 위해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, 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시스템 호출을 통해 커널에 직접 접근하기보다는 셸 링이 제공하는  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API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와 도구를 사용해야 합니다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1297163-5291-9DAA-3DCF-5E674AEE2F79}"/>
              </a:ext>
            </a:extLst>
          </p:cNvPr>
          <p:cNvSpPr txBox="1"/>
          <p:nvPr/>
        </p:nvSpPr>
        <p:spPr>
          <a:xfrm>
            <a:off x="10954478" y="257460"/>
            <a:ext cx="70412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1200" dirty="0">
                <a:solidFill>
                  <a:srgbClr val="554F4D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p.</a:t>
            </a:r>
            <a:r>
              <a:rPr lang="ko-KR" altLang="en-US" sz="1200" dirty="0">
                <a:solidFill>
                  <a:srgbClr val="554F4D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 </a:t>
            </a:r>
            <a:r>
              <a:rPr lang="en-US" altLang="ko-KR" sz="1200" dirty="0">
                <a:solidFill>
                  <a:srgbClr val="554F4D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384</a:t>
            </a:r>
          </a:p>
        </p:txBody>
      </p:sp>
    </p:spTree>
    <p:extLst>
      <p:ext uri="{BB962C8B-B14F-4D97-AF65-F5344CB8AC3E}">
        <p14:creationId xmlns:p14="http://schemas.microsoft.com/office/powerpoint/2010/main" val="148429335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D45A5B82-5CCC-4A00-B9DD-C58D174766AA}"/>
              </a:ext>
            </a:extLst>
          </p:cNvPr>
          <p:cNvSpPr txBox="1"/>
          <p:nvPr/>
        </p:nvSpPr>
        <p:spPr>
          <a:xfrm>
            <a:off x="675942" y="257460"/>
            <a:ext cx="51660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2000" dirty="0">
                <a:solidFill>
                  <a:srgbClr val="554F4D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10.3 </a:t>
            </a:r>
            <a:r>
              <a:rPr lang="ko-KR" altLang="en-US" sz="2000" dirty="0">
                <a:solidFill>
                  <a:srgbClr val="554F4D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사용자 응용프로그램에 대한 셸 인터페이스</a:t>
            </a:r>
            <a:endParaRPr lang="en-US" altLang="ko-KR" sz="2000" dirty="0">
              <a:solidFill>
                <a:srgbClr val="554F4D"/>
              </a:solidFill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9F450324-20B0-49CF-97E3-AFFE69842BFD}"/>
              </a:ext>
            </a:extLst>
          </p:cNvPr>
          <p:cNvSpPr/>
          <p:nvPr/>
        </p:nvSpPr>
        <p:spPr>
          <a:xfrm>
            <a:off x="-5" y="-1"/>
            <a:ext cx="86586" cy="6876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DBD5032-A1A2-0257-6C09-8BD025AC75B6}"/>
              </a:ext>
            </a:extLst>
          </p:cNvPr>
          <p:cNvSpPr txBox="1"/>
          <p:nvPr/>
        </p:nvSpPr>
        <p:spPr>
          <a:xfrm>
            <a:off x="495300" y="1283514"/>
            <a:ext cx="11201400" cy="45397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유닉스를 위해 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C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로 개발된 다양한 프로그램이 존재합니다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 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이러한 응용 프로그램 사이에는 한가지 공통적인 특징이 있습니다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 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이들 프로그램의 코드는 약간만 변형하면 대부분의 유닉스 및 유닉스 계열 운영체제에서 이식할 수 있다는 점입니다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</a:p>
          <a:p>
            <a:pPr algn="l"/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모든 유닉스 시스템은 셸 링에서 같은 응용 프로그램 프로그래밍 인터페이스를 노출합니다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 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노출된 인터페이스만을 사용하는 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C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소스 코드는 모든 유닉스 시스템에서 빌드 및 실행할 수 있습니다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</a:p>
          <a:p>
            <a:pPr algn="l"/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거의 모든 유닉스 시스템에서 셸 링이 같은 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API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를 노출합니다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 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예를 들면 </a:t>
            </a:r>
            <a:r>
              <a:rPr lang="en-US" altLang="ko-KR" sz="1700" dirty="0" err="1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printf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함수는 </a:t>
            </a:r>
            <a:r>
              <a:rPr lang="en-US" altLang="ko-KR" sz="1700" dirty="0" err="1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stdio.h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헤더파일에서 항상 선언해야 하며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, 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이는 유닉스 표준에서 규격화되어 있습니다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 </a:t>
            </a:r>
            <a:r>
              <a:rPr lang="en-US" altLang="ko-KR" sz="1700" dirty="0" err="1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stdio.h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는 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SUS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표준에서 </a:t>
            </a:r>
            <a:r>
              <a:rPr lang="ko-KR" altLang="en-US" sz="1700" dirty="0" err="1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규격화한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C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표준 라이브러리에 속합니다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유닉스에 대해 작성된 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C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프로그램은 </a:t>
            </a:r>
            <a:r>
              <a:rPr lang="en-US" altLang="ko-KR" sz="1700" dirty="0" err="1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printf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나 </a:t>
            </a:r>
            <a:r>
              <a:rPr lang="en-US" altLang="ko-KR" sz="1700" dirty="0" err="1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fopen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같은 특정 함수의 실제 구현은 인지하지 못합니다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 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다시 말해 셸 링은 바깥 링에 있는 프로그램에 블랙박스처럼 보입니다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 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셸 링이 제공하는 다양한 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API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는 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SUS 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표준 아래에 수집됩니다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</a:p>
          <a:p>
            <a:pPr algn="l"/>
            <a:endParaRPr lang="en-US" altLang="ko-KR" sz="1700" dirty="0">
              <a:solidFill>
                <a:srgbClr val="554F4D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 marL="285750" indent="-285750" algn="l">
              <a:buFontTx/>
              <a:buChar char="-"/>
            </a:pP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시스템 인터페이스 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: 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모든 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C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프로그램에서 사용할 수 있는 모든 함수의 목록</a:t>
            </a:r>
            <a:endParaRPr lang="en-US" altLang="ko-KR" sz="1700" dirty="0">
              <a:solidFill>
                <a:srgbClr val="554F4D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 marL="285750" indent="-285750" algn="l">
              <a:buFontTx/>
              <a:buChar char="-"/>
            </a:pP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헤더 인터페이스 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: SUS v4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와 호환 가능한 유닉스 시스템에서 사용할 수 있는 헤더 파일 목록</a:t>
            </a:r>
            <a:endParaRPr lang="en-US" altLang="ko-KR" sz="1700" dirty="0">
              <a:solidFill>
                <a:srgbClr val="554F4D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 marL="285750" indent="-285750" algn="l">
              <a:buFontTx/>
              <a:buChar char="-"/>
            </a:pP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유틸리티 인터페이스 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: SUS v4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와 호환되는 유닉스 시스템에서 사용 가능한 유틸리티 프로그램 또는 커맨드 라인 프로그램의 목록</a:t>
            </a:r>
            <a:endParaRPr lang="en-US" altLang="ko-KR" sz="1700" dirty="0">
              <a:solidFill>
                <a:srgbClr val="554F4D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 marL="285750" indent="-285750" algn="l">
              <a:buFontTx/>
              <a:buChar char="-"/>
            </a:pPr>
            <a:r>
              <a:rPr lang="ko-KR" altLang="en-US" sz="1700" dirty="0" err="1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스크립팅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인터페이스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: 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셸 스크립트를 작성할 때 사용되는 언어</a:t>
            </a:r>
            <a:endParaRPr lang="en-US" altLang="ko-KR" sz="1700" dirty="0">
              <a:solidFill>
                <a:srgbClr val="554F4D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 marL="285750" indent="-285750" algn="l">
              <a:buFontTx/>
              <a:buChar char="-"/>
            </a:pP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XCURSES 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인터페이스 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: </a:t>
            </a:r>
            <a:r>
              <a:rPr lang="ko-KR" altLang="en-US" sz="1700" dirty="0" err="1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미니멀한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텍스트 기반의 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GUI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에서 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C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프로그램과 사용자가 상호작용할 수 있도록 하는 일련의 인터페이스</a:t>
            </a:r>
            <a:endParaRPr lang="en-US" altLang="ko-KR" sz="1700" dirty="0">
              <a:solidFill>
                <a:srgbClr val="554F4D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 marL="285750" indent="-285750" algn="l">
              <a:buFontTx/>
              <a:buChar char="-"/>
            </a:pPr>
            <a:endParaRPr lang="en-US" altLang="ko-KR" sz="1700" dirty="0">
              <a:solidFill>
                <a:srgbClr val="554F4D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 algn="l"/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SUS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는 시스템에서 헤더를 어디에서 사용할 수 있고 어디에 있는지를 설명할 뿐입니다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 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표준 헤더 파일 경로에 관해 널리 사용되는 규칙에 따르면 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/</a:t>
            </a:r>
            <a:r>
              <a:rPr lang="en-US" altLang="ko-KR" sz="1700" dirty="0" err="1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usr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/include 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또는 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/user/local/include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에 있어야 합니다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B94412C-30FA-056D-6618-42D0301AED7E}"/>
              </a:ext>
            </a:extLst>
          </p:cNvPr>
          <p:cNvSpPr txBox="1"/>
          <p:nvPr/>
        </p:nvSpPr>
        <p:spPr>
          <a:xfrm>
            <a:off x="10897994" y="257460"/>
            <a:ext cx="70412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1200" dirty="0">
                <a:solidFill>
                  <a:srgbClr val="554F4D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p.</a:t>
            </a:r>
            <a:r>
              <a:rPr lang="ko-KR" altLang="en-US" sz="1200" dirty="0">
                <a:solidFill>
                  <a:srgbClr val="554F4D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 </a:t>
            </a:r>
            <a:r>
              <a:rPr lang="en-US" altLang="ko-KR" sz="1200" dirty="0">
                <a:solidFill>
                  <a:srgbClr val="554F4D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386</a:t>
            </a:r>
          </a:p>
        </p:txBody>
      </p:sp>
    </p:spTree>
    <p:extLst>
      <p:ext uri="{BB962C8B-B14F-4D97-AF65-F5344CB8AC3E}">
        <p14:creationId xmlns:p14="http://schemas.microsoft.com/office/powerpoint/2010/main" val="1376392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D45A5B82-5CCC-4A00-B9DD-C58D174766AA}"/>
              </a:ext>
            </a:extLst>
          </p:cNvPr>
          <p:cNvSpPr txBox="1"/>
          <p:nvPr/>
        </p:nvSpPr>
        <p:spPr>
          <a:xfrm>
            <a:off x="675942" y="257460"/>
            <a:ext cx="51660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2000" dirty="0">
                <a:solidFill>
                  <a:srgbClr val="554F4D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10.3 </a:t>
            </a:r>
            <a:r>
              <a:rPr lang="ko-KR" altLang="en-US" sz="2000" dirty="0">
                <a:solidFill>
                  <a:srgbClr val="554F4D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사용자 응용프로그램에 대한 셸 인터페이스</a:t>
            </a:r>
            <a:endParaRPr lang="en-US" altLang="ko-KR" sz="2000" dirty="0">
              <a:solidFill>
                <a:srgbClr val="554F4D"/>
              </a:solidFill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9F450324-20B0-49CF-97E3-AFFE69842BFD}"/>
              </a:ext>
            </a:extLst>
          </p:cNvPr>
          <p:cNvSpPr/>
          <p:nvPr/>
        </p:nvSpPr>
        <p:spPr>
          <a:xfrm>
            <a:off x="-5" y="-1"/>
            <a:ext cx="86586" cy="6876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DBD5032-A1A2-0257-6C09-8BD025AC75B6}"/>
              </a:ext>
            </a:extLst>
          </p:cNvPr>
          <p:cNvSpPr txBox="1"/>
          <p:nvPr/>
        </p:nvSpPr>
        <p:spPr>
          <a:xfrm>
            <a:off x="495300" y="1283514"/>
            <a:ext cx="11201400" cy="27084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유닉스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호환 시스템은 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SUS 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표준을 전적으로 준수합니다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 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하지만 유닉스 계열 시스템은 그렇지 않으며 부분적으로만 표준을 준수합니다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 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즉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, SUS 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표준의 특정한 부분집합만 따를 뿐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, 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전체를 따르지 않는다는 의미입니다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 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이론적으로 유닉스 호환 시스템을 위해 개발된 프로그램은 다른 유닉스 호환 시스템에 이식할 수 있어야 하지만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, 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유닉스 계열 운영체제에는 이식되지 않을 수 있다는 것입니다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 </a:t>
            </a:r>
          </a:p>
          <a:p>
            <a:pPr algn="l"/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특히 리눅스 탄생 이후 여러 유닉스 계열 운영체제가 개발되었는데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, 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이는 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SUS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표준의 부분집합에 특정 이름을 부여하는 토대가 되었습니다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 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이들은 이식 가능한 운영체제 인터페이스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(POSIX)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라고 합니다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 SUS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와 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POSIX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는 매우 비슷하지만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, POSIX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는 유닉스 표준이 더 광범위한 운영체제에 적용 가능하도록 합니다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</a:p>
          <a:p>
            <a:pPr algn="l"/>
            <a:endParaRPr lang="en-US" altLang="ko-KR" sz="1700" dirty="0">
              <a:solidFill>
                <a:srgbClr val="554F4D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 algn="l"/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SUS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와 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POSIX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모두 인터페이스에 대한 규칙입니다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 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각 유닉스 시스템은 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POSIX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또는 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SUS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구현에 대한 자체적인 구현이 있습니다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 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이러한 구현은 셸 링에 속하는 </a:t>
            </a:r>
            <a:r>
              <a:rPr lang="en-US" altLang="ko-KR" sz="1700" dirty="0" err="1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libc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라이브러리에 위치합니다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 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다시 말해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, 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유닉스 시스템에서 셸 링은 표준 방식으로 제공해야 하는 </a:t>
            </a:r>
            <a:r>
              <a:rPr lang="en-US" altLang="ko-KR" sz="1700" dirty="0" err="1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libc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구현을 포함합니다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 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그에 따라 셸 링은 요청을 전달해 커널 링이 처리하도록 합니다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B94412C-30FA-056D-6618-42D0301AED7E}"/>
              </a:ext>
            </a:extLst>
          </p:cNvPr>
          <p:cNvSpPr txBox="1"/>
          <p:nvPr/>
        </p:nvSpPr>
        <p:spPr>
          <a:xfrm>
            <a:off x="10897994" y="257460"/>
            <a:ext cx="70412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1200" dirty="0">
                <a:solidFill>
                  <a:srgbClr val="554F4D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p.</a:t>
            </a:r>
            <a:r>
              <a:rPr lang="ko-KR" altLang="en-US" sz="1200" dirty="0">
                <a:solidFill>
                  <a:srgbClr val="554F4D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 </a:t>
            </a:r>
            <a:r>
              <a:rPr lang="en-US" altLang="ko-KR" sz="1200" dirty="0">
                <a:solidFill>
                  <a:srgbClr val="554F4D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390</a:t>
            </a:r>
          </a:p>
        </p:txBody>
      </p:sp>
    </p:spTree>
    <p:extLst>
      <p:ext uri="{BB962C8B-B14F-4D97-AF65-F5344CB8AC3E}">
        <p14:creationId xmlns:p14="http://schemas.microsoft.com/office/powerpoint/2010/main" val="320727945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D45A5B82-5CCC-4A00-B9DD-C58D174766AA}"/>
              </a:ext>
            </a:extLst>
          </p:cNvPr>
          <p:cNvSpPr txBox="1"/>
          <p:nvPr/>
        </p:nvSpPr>
        <p:spPr>
          <a:xfrm>
            <a:off x="675942" y="257460"/>
            <a:ext cx="51660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2000" dirty="0">
                <a:solidFill>
                  <a:srgbClr val="554F4D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10.4 </a:t>
            </a:r>
            <a:r>
              <a:rPr lang="ko-KR" altLang="en-US" sz="2000" dirty="0">
                <a:solidFill>
                  <a:srgbClr val="554F4D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셸 링에 대한 커널 인터페이스 </a:t>
            </a:r>
            <a:endParaRPr lang="en-US" altLang="ko-KR" sz="2000" dirty="0">
              <a:solidFill>
                <a:srgbClr val="554F4D"/>
              </a:solidFill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9F450324-20B0-49CF-97E3-AFFE69842BFD}"/>
              </a:ext>
            </a:extLst>
          </p:cNvPr>
          <p:cNvSpPr/>
          <p:nvPr/>
        </p:nvSpPr>
        <p:spPr>
          <a:xfrm>
            <a:off x="-5" y="-1"/>
            <a:ext cx="86586" cy="6876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DBD5032-A1A2-0257-6C09-8BD025AC75B6}"/>
              </a:ext>
            </a:extLst>
          </p:cNvPr>
          <p:cNvSpPr txBox="1"/>
          <p:nvPr/>
        </p:nvSpPr>
        <p:spPr>
          <a:xfrm>
            <a:off x="495300" y="1283514"/>
            <a:ext cx="11201400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앞 절에서 유닉스 시스템에서 셸 링이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SUS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또는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POSIX 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표준에서 정의된 인터페이스를 제공한다고 설명했습니다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 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셸 링에서 특정 로직을 불러오는 방법은 주로 두가지가 있습니다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 </a:t>
            </a:r>
            <a:r>
              <a:rPr lang="en-US" altLang="ko-KR" sz="1700" dirty="0" err="1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libc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또는 셸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유틸리티 프로그램을 통하는 방식입니다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 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셸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루틴을 실행하기 위해서는 사용자 응용 프로그램은 </a:t>
            </a:r>
            <a:r>
              <a:rPr lang="en-US" altLang="ko-KR" sz="1700" dirty="0" err="1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libc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라이브러리와 연결되거나 시스템에서 사용 가능한 기존의 유틸리티 프로그램을 실행할 수 있어야 합니다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</a:p>
          <a:p>
            <a:pPr algn="l"/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인터페이스를 노출하고 라이브러리 파일 집합을 사용해 구현해야 하는 운영체제를 설계할 수 있으려면 컴파일 파이프라인과 링크 메커니즘이 필요합니다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 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여기서 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C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의 모든 특성이 유닉스를 위한 역할을 한다는 점을 알 수 있습니다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 </a:t>
            </a:r>
          </a:p>
          <a:p>
            <a:pPr algn="l"/>
            <a:r>
              <a:rPr lang="en-US" altLang="ko-KR" sz="1700" dirty="0" err="1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libc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가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커널 기능을 사용하기 위해 이용하는 주요 메커니즘을 </a:t>
            </a:r>
            <a:r>
              <a:rPr lang="ko-KR" altLang="en-US" sz="1700" dirty="0">
                <a:solidFill>
                  <a:schemeClr val="accent2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시스템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ko-KR" altLang="en-US" sz="1700" dirty="0">
                <a:solidFill>
                  <a:schemeClr val="accent2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호출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이라고 합니다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4F8F43C9-BFD0-AF4D-DE7D-6C53797263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300" y="3429000"/>
            <a:ext cx="3371688" cy="1593216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99FF9BCC-5436-52A6-85E3-BE9179A56263}"/>
              </a:ext>
            </a:extLst>
          </p:cNvPr>
          <p:cNvSpPr txBox="1"/>
          <p:nvPr/>
        </p:nvSpPr>
        <p:spPr>
          <a:xfrm>
            <a:off x="4184106" y="3437999"/>
            <a:ext cx="6958027" cy="19236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1700" dirty="0" err="1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unistd.h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헤더파일을 포함해 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sleep 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함수를 호출합니다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 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헤더 파일과 함수 둘 다  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SUS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가 노출한 인터페이스에 속합니다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 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이 함수에 어떤 일이 일어나는지 알기 위해서는 시스템 호출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(</a:t>
            </a:r>
            <a:r>
              <a:rPr lang="ko-KR" altLang="en-US" sz="1700" dirty="0" err="1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시스콜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)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이라는 것이 </a:t>
            </a:r>
            <a:r>
              <a:rPr lang="en-US" altLang="ko-KR" sz="1700" dirty="0" err="1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libc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구현에서 작성된 코드에 의해 어떻게 </a:t>
            </a:r>
            <a:r>
              <a:rPr lang="ko-KR" altLang="en-US" sz="1700" dirty="0" err="1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트리거되는지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알고 있습니다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</a:p>
          <a:p>
            <a:pPr algn="l"/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시스템을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호출하지 않는 프로그램은 말 그대로 아무것도 할 수 없습니다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 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따라서 결과적으로 우리가 작성하는 모든 프로그램은 </a:t>
            </a:r>
            <a:r>
              <a:rPr lang="en-US" altLang="ko-KR" sz="1700" dirty="0" err="1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libc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함수를 호출해 시스템 호출을 사용해야 합니다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5452382-87E2-1414-8E22-29BC3749585F}"/>
              </a:ext>
            </a:extLst>
          </p:cNvPr>
          <p:cNvSpPr txBox="1"/>
          <p:nvPr/>
        </p:nvSpPr>
        <p:spPr>
          <a:xfrm>
            <a:off x="10992578" y="257460"/>
            <a:ext cx="70412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1200" dirty="0">
                <a:solidFill>
                  <a:srgbClr val="554F4D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p.</a:t>
            </a:r>
            <a:r>
              <a:rPr lang="ko-KR" altLang="en-US" sz="1200" dirty="0">
                <a:solidFill>
                  <a:srgbClr val="554F4D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 </a:t>
            </a:r>
            <a:r>
              <a:rPr lang="en-US" altLang="ko-KR" sz="1200" dirty="0">
                <a:solidFill>
                  <a:srgbClr val="554F4D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391</a:t>
            </a:r>
          </a:p>
        </p:txBody>
      </p:sp>
    </p:spTree>
    <p:extLst>
      <p:ext uri="{BB962C8B-B14F-4D97-AF65-F5344CB8AC3E}">
        <p14:creationId xmlns:p14="http://schemas.microsoft.com/office/powerpoint/2010/main" val="310085370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D45A5B82-5CCC-4A00-B9DD-C58D174766AA}"/>
              </a:ext>
            </a:extLst>
          </p:cNvPr>
          <p:cNvSpPr txBox="1"/>
          <p:nvPr/>
        </p:nvSpPr>
        <p:spPr>
          <a:xfrm>
            <a:off x="675942" y="257460"/>
            <a:ext cx="51660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2000" dirty="0">
                <a:solidFill>
                  <a:srgbClr val="554F4D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10.5 </a:t>
            </a:r>
            <a:r>
              <a:rPr lang="ko-KR" altLang="en-US" sz="2000" dirty="0">
                <a:solidFill>
                  <a:srgbClr val="554F4D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커널</a:t>
            </a:r>
            <a:endParaRPr lang="en-US" altLang="ko-KR" sz="2000" dirty="0">
              <a:solidFill>
                <a:srgbClr val="554F4D"/>
              </a:solidFill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9F450324-20B0-49CF-97E3-AFFE69842BFD}"/>
              </a:ext>
            </a:extLst>
          </p:cNvPr>
          <p:cNvSpPr/>
          <p:nvPr/>
        </p:nvSpPr>
        <p:spPr>
          <a:xfrm>
            <a:off x="-5" y="-1"/>
            <a:ext cx="86586" cy="6876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DBD5032-A1A2-0257-6C09-8BD025AC75B6}"/>
              </a:ext>
            </a:extLst>
          </p:cNvPr>
          <p:cNvSpPr txBox="1"/>
          <p:nvPr/>
        </p:nvSpPr>
        <p:spPr>
          <a:xfrm>
            <a:off x="495300" y="1058334"/>
            <a:ext cx="11201400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커널 링의 주요 목적은 시스템에 연결된 하드웨어를 관리하는 일이며 시스템 호출로 커널의 기능을 제공하는 것 입니다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 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커널은 우리가 알고 있는 다른 프로세스와 마찬가지로 일련의 명령어를 실행하는 프로세스입니다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 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하지만 커널 프로세스는 우리가 사용자 프로세스로 알고 있는 일반적인 프로세스와는 근본적으로 다릅니다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</a:p>
          <a:p>
            <a:pPr algn="l"/>
            <a:endParaRPr lang="en-US" altLang="ko-KR" sz="1700" dirty="0">
              <a:solidFill>
                <a:srgbClr val="554F4D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 algn="l"/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밑의 도식은 마지막에 사용자 응용 프로그램이 특정 하드웨어 기능을 사용하기 전에 그 기능이 서로 다른 링을 통해 제공되는 방식을 나타냅니다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</a:p>
        </p:txBody>
      </p:sp>
      <p:pic>
        <p:nvPicPr>
          <p:cNvPr id="1026" name="Picture 2" descr="시스템프로그래밍]시스템 호출 #개요">
            <a:extLst>
              <a:ext uri="{FF2B5EF4-FFF2-40B4-BE49-F238E27FC236}">
                <a16:creationId xmlns:a16="http://schemas.microsoft.com/office/drawing/2014/main" id="{439EC72A-9145-E4CF-454A-6618BA4505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4551" y="2898246"/>
            <a:ext cx="3280556" cy="30707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2166869-5220-CEFD-FE95-B6B85BCFDC65}"/>
              </a:ext>
            </a:extLst>
          </p:cNvPr>
          <p:cNvSpPr txBox="1"/>
          <p:nvPr/>
        </p:nvSpPr>
        <p:spPr>
          <a:xfrm>
            <a:off x="4295955" y="2898246"/>
            <a:ext cx="7245545" cy="24468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· 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커널 프로세스는 첫 번째 로드 및 실행됩니다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 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사용자 프로세스가 </a:t>
            </a:r>
            <a:r>
              <a:rPr lang="ko-KR" altLang="en-US" sz="1700" dirty="0" err="1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스폰되기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전에 커 </a:t>
            </a:r>
            <a:endParaRPr lang="en-US" altLang="ko-KR" sz="1700" dirty="0">
              <a:solidFill>
                <a:srgbClr val="554F4D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 algn="l"/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  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널 프로세스가 로드되고 실행되어야 합니다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</a:p>
          <a:p>
            <a:pPr algn="l"/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· 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커널 프로세스는 하나여야 합니다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 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하지만 동시에 작업중인 여러 개의 프로세스가 </a:t>
            </a:r>
            <a:endParaRPr lang="en-US" altLang="ko-KR" sz="1700" dirty="0">
              <a:solidFill>
                <a:srgbClr val="554F4D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 algn="l"/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  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있을 수 있습니다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</a:p>
          <a:p>
            <a:pPr algn="l"/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· 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커널 프로세스는 부트 </a:t>
            </a:r>
            <a:r>
              <a:rPr lang="ko-KR" altLang="en-US" sz="1700" dirty="0" err="1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로더에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의해 메인 메모리로 커널 이미지를 복제해 생성됩니다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  <a:b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</a:b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· 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커널 프로세스는 시스템 호출을 다루고 실행합니다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 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하지만 사용자 프로세스는 시스</a:t>
            </a:r>
            <a:endParaRPr lang="en-US" altLang="ko-KR" sz="1700" dirty="0">
              <a:solidFill>
                <a:srgbClr val="554F4D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 algn="l"/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  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템 호출을 불러와 커널 프로세스가 시스템을 호출하기를 기다립니다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</a:p>
          <a:p>
            <a:pPr algn="l"/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· 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커널 프로세스는 물리 메모리 및 권한 수준이 높은 모드에 있는 모든 연결된 </a:t>
            </a:r>
            <a:r>
              <a:rPr lang="ko-KR" altLang="en-US" sz="1700" dirty="0" err="1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하드웨</a:t>
            </a:r>
            <a:endParaRPr lang="en-US" altLang="ko-KR" sz="1700" dirty="0">
              <a:solidFill>
                <a:srgbClr val="554F4D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 algn="l"/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  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어를 봅니다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 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하지만 사용자 프로세스는 가상 메모리를 봅니다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450EFD4-AA06-A62F-2FEC-03A0F1827E72}"/>
              </a:ext>
            </a:extLst>
          </p:cNvPr>
          <p:cNvSpPr txBox="1"/>
          <p:nvPr/>
        </p:nvSpPr>
        <p:spPr>
          <a:xfrm>
            <a:off x="10992578" y="257460"/>
            <a:ext cx="70412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1200" dirty="0">
                <a:solidFill>
                  <a:srgbClr val="554F4D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p.</a:t>
            </a:r>
            <a:r>
              <a:rPr lang="ko-KR" altLang="en-US" sz="1200" dirty="0">
                <a:solidFill>
                  <a:srgbClr val="554F4D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 </a:t>
            </a:r>
            <a:r>
              <a:rPr lang="en-US" altLang="ko-KR" sz="1200" dirty="0">
                <a:solidFill>
                  <a:srgbClr val="554F4D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398</a:t>
            </a:r>
          </a:p>
        </p:txBody>
      </p:sp>
    </p:spTree>
    <p:extLst>
      <p:ext uri="{BB962C8B-B14F-4D97-AF65-F5344CB8AC3E}">
        <p14:creationId xmlns:p14="http://schemas.microsoft.com/office/powerpoint/2010/main" val="66989163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D45A5B82-5CCC-4A00-B9DD-C58D174766AA}"/>
              </a:ext>
            </a:extLst>
          </p:cNvPr>
          <p:cNvSpPr txBox="1"/>
          <p:nvPr/>
        </p:nvSpPr>
        <p:spPr>
          <a:xfrm>
            <a:off x="675942" y="257460"/>
            <a:ext cx="51660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2000" dirty="0">
                <a:solidFill>
                  <a:srgbClr val="554F4D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10.5 </a:t>
            </a:r>
            <a:r>
              <a:rPr lang="ko-KR" altLang="en-US" sz="2000" dirty="0">
                <a:solidFill>
                  <a:srgbClr val="554F4D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커널</a:t>
            </a:r>
            <a:endParaRPr lang="en-US" altLang="ko-KR" sz="2000" dirty="0">
              <a:solidFill>
                <a:srgbClr val="554F4D"/>
              </a:solidFill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9F450324-20B0-49CF-97E3-AFFE69842BFD}"/>
              </a:ext>
            </a:extLst>
          </p:cNvPr>
          <p:cNvSpPr/>
          <p:nvPr/>
        </p:nvSpPr>
        <p:spPr>
          <a:xfrm>
            <a:off x="-5" y="-1"/>
            <a:ext cx="86586" cy="6876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DBD5032-A1A2-0257-6C09-8BD025AC75B6}"/>
              </a:ext>
            </a:extLst>
          </p:cNvPr>
          <p:cNvSpPr txBox="1"/>
          <p:nvPr/>
        </p:nvSpPr>
        <p:spPr>
          <a:xfrm>
            <a:off x="892246" y="1092840"/>
            <a:ext cx="10571294" cy="19236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이 비교로 이해할 수 있듯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, 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운영체제의 런타임에는 서로 다른 두 가지 실행모드가 있습니다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 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하나는 커널 프로세스 모드이고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, 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다른 하나는 사용자 프로세스 모드입니다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 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커널 프로세스 모드는 </a:t>
            </a:r>
            <a:r>
              <a:rPr lang="ko-KR" altLang="en-US" sz="1700" dirty="0" err="1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커널랜드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또는 커널 공간이라고 합니다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 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후자는 유저 랜드 또는 사용자 공간이라고 합니다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 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사용자 프로세스가 시스템 호출을 불러오는 것은 두 랜드를 함께 가져오는 방식입니다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 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기본적으로 커널 공간과 사용자 공간을 서로 분리해야 했으므로 시스템 호출이 고안되었습니다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 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커널 공간은 시스템 자원에 접근할 수 있는 가장 권한이 높은 것이고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, 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사용자 공간은 가장 권한이 낮으며 </a:t>
            </a:r>
            <a:r>
              <a:rPr lang="ko-KR" altLang="en-US" sz="1700" dirty="0" err="1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감독받는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접근 권한을 갖습니다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</a:p>
          <a:p>
            <a:pPr algn="l"/>
            <a:endParaRPr lang="en-US" altLang="ko-KR" sz="1700" dirty="0">
              <a:solidFill>
                <a:srgbClr val="554F4D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 algn="l"/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일반적인 유닉스 커널에 대한 내부 구조는 커널이 수행하는 임무에 따라 구별할 수 있습니다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3540894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D45A5B82-5CCC-4A00-B9DD-C58D174766AA}"/>
              </a:ext>
            </a:extLst>
          </p:cNvPr>
          <p:cNvSpPr txBox="1"/>
          <p:nvPr/>
        </p:nvSpPr>
        <p:spPr>
          <a:xfrm>
            <a:off x="675942" y="257460"/>
            <a:ext cx="51660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2000" dirty="0">
                <a:solidFill>
                  <a:srgbClr val="554F4D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10.5 </a:t>
            </a:r>
            <a:r>
              <a:rPr lang="ko-KR" altLang="en-US" sz="2000" dirty="0">
                <a:solidFill>
                  <a:srgbClr val="554F4D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커널</a:t>
            </a:r>
            <a:endParaRPr lang="en-US" altLang="ko-KR" sz="2000" dirty="0">
              <a:solidFill>
                <a:srgbClr val="554F4D"/>
              </a:solidFill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9F450324-20B0-49CF-97E3-AFFE69842BFD}"/>
              </a:ext>
            </a:extLst>
          </p:cNvPr>
          <p:cNvSpPr/>
          <p:nvPr/>
        </p:nvSpPr>
        <p:spPr>
          <a:xfrm>
            <a:off x="-5" y="-1"/>
            <a:ext cx="86586" cy="6876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DBD5032-A1A2-0257-6C09-8BD025AC75B6}"/>
              </a:ext>
            </a:extLst>
          </p:cNvPr>
          <p:cNvSpPr txBox="1"/>
          <p:nvPr/>
        </p:nvSpPr>
        <p:spPr>
          <a:xfrm>
            <a:off x="4963388" y="775731"/>
            <a:ext cx="6927118" cy="5324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buFontTx/>
              <a:buChar char="-"/>
            </a:pP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프로세스 관리 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: 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사용자 프로세스는 시스템 호출을 통해 커널을 생성합니다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</a:p>
          <a:p>
            <a:pPr algn="l"/>
            <a:endParaRPr lang="en-US" altLang="ko-KR" sz="1700" dirty="0">
              <a:solidFill>
                <a:srgbClr val="554F4D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 marL="285750" indent="-285750" algn="l">
              <a:buFontTx/>
              <a:buChar char="-"/>
            </a:pP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프로세스 간 통신 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: 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동일한 </a:t>
            </a:r>
            <a:r>
              <a:rPr lang="ko-KR" altLang="en-US" sz="1700" dirty="0" err="1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머신에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있는 사용자 프로세스는 그들 간 데이터를 교환하는 서로 다른 메서드를 사용할 수 있습니다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  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이런 메서드에는 공유 메모리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, 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파이프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, 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유닉스 도메인 소켓이 있습니다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</a:p>
          <a:p>
            <a:pPr algn="l"/>
            <a:endParaRPr lang="en-US" altLang="ko-KR" sz="1700" dirty="0">
              <a:solidFill>
                <a:srgbClr val="554F4D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 marL="285750" indent="-285750" algn="l">
              <a:buFontTx/>
              <a:buChar char="-"/>
            </a:pP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스케줄링 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: 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유닉스는 항상 멀티태스킹 운영체제로 알려졌습니다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 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커널은 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CPU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코어에 대한 접근을 관리하며 이 접근에 대한 균형을 유지하려 합니다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</a:p>
          <a:p>
            <a:pPr algn="l"/>
            <a:endParaRPr lang="en-US" altLang="ko-KR" sz="1700" dirty="0">
              <a:solidFill>
                <a:srgbClr val="554F4D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 marL="285750" indent="-285750" algn="l">
              <a:buFontTx/>
              <a:buChar char="-"/>
            </a:pP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메모리 관리 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: 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커널의 주요 임무입니다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 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커널은 물리 메모리 전체를 보고 그에 대한 슈퍼유저 접근 권한을 갖습니다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 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그러므로 물리 메모리를 할당 가능한 페이지로 나누고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, </a:t>
            </a:r>
            <a:r>
              <a:rPr lang="ko-KR" altLang="en-US" sz="1700" dirty="0" err="1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힙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할당의 경우 새 페이지를 프로세스에 할당하는 등 커널이 수행하고 관리합니다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</a:p>
          <a:p>
            <a:pPr marL="285750" indent="-285750" algn="l">
              <a:buFontTx/>
              <a:buChar char="-"/>
            </a:pPr>
            <a:endParaRPr lang="en-US" altLang="ko-KR" sz="1700" dirty="0">
              <a:solidFill>
                <a:srgbClr val="554F4D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 marL="285750" indent="-285750" algn="l">
              <a:buFontTx/>
              <a:buChar char="-"/>
            </a:pP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시스템 시작 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: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커널 이미지가 메인 메모리에 로드되고 커널 프로세스가 시작되면 커널은 사용자 스페이스를 초기화해야 합니다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 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이 프로세스를 </a:t>
            </a:r>
            <a:r>
              <a:rPr lang="en-US" altLang="ko-KR" sz="1700" dirty="0" err="1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init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이라고 합니다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</a:p>
          <a:p>
            <a:pPr marL="285750" indent="-285750" algn="l">
              <a:buFontTx/>
              <a:buChar char="-"/>
            </a:pPr>
            <a:endParaRPr lang="en-US" altLang="ko-KR" sz="1700" dirty="0">
              <a:solidFill>
                <a:srgbClr val="554F4D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 marL="285750" indent="-285750" algn="l">
              <a:buFontTx/>
              <a:buChar char="-"/>
            </a:pP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장치 관리 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: CPU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와 메모리 외에도 커널은 모든 커널에 대해 추상화를 통해 하드웨어를 관리할 수 있어야 합니다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E61027C3-D68D-4F75-7E4C-EFF824D5DC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969" y="1065615"/>
            <a:ext cx="4323834" cy="4427813"/>
          </a:xfrm>
          <a:prstGeom prst="rect">
            <a:avLst/>
          </a:prstGeom>
        </p:spPr>
      </p:pic>
      <p:sp>
        <p:nvSpPr>
          <p:cNvPr id="8" name="액자 7">
            <a:extLst>
              <a:ext uri="{FF2B5EF4-FFF2-40B4-BE49-F238E27FC236}">
                <a16:creationId xmlns:a16="http://schemas.microsoft.com/office/drawing/2014/main" id="{FC1ECB0E-FEE9-C42D-CCA0-2E35A98FAE5B}"/>
              </a:ext>
            </a:extLst>
          </p:cNvPr>
          <p:cNvSpPr/>
          <p:nvPr/>
        </p:nvSpPr>
        <p:spPr>
          <a:xfrm>
            <a:off x="477969" y="2345268"/>
            <a:ext cx="4094031" cy="2641600"/>
          </a:xfrm>
          <a:prstGeom prst="frame">
            <a:avLst>
              <a:gd name="adj1" fmla="val 1054"/>
            </a:avLst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ECFB136-6404-1874-E3A7-8757A1E11C8B}"/>
              </a:ext>
            </a:extLst>
          </p:cNvPr>
          <p:cNvSpPr txBox="1"/>
          <p:nvPr/>
        </p:nvSpPr>
        <p:spPr>
          <a:xfrm>
            <a:off x="10992578" y="257460"/>
            <a:ext cx="70412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1200" dirty="0">
                <a:solidFill>
                  <a:srgbClr val="554F4D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p.400</a:t>
            </a:r>
          </a:p>
        </p:txBody>
      </p:sp>
    </p:spTree>
    <p:extLst>
      <p:ext uri="{BB962C8B-B14F-4D97-AF65-F5344CB8AC3E}">
        <p14:creationId xmlns:p14="http://schemas.microsoft.com/office/powerpoint/2010/main" val="339751200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D45A5B82-5CCC-4A00-B9DD-C58D174766AA}"/>
              </a:ext>
            </a:extLst>
          </p:cNvPr>
          <p:cNvSpPr txBox="1"/>
          <p:nvPr/>
        </p:nvSpPr>
        <p:spPr>
          <a:xfrm>
            <a:off x="675942" y="257460"/>
            <a:ext cx="51660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2000" dirty="0">
                <a:solidFill>
                  <a:srgbClr val="554F4D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10.6 </a:t>
            </a:r>
            <a:r>
              <a:rPr lang="ko-KR" altLang="en-US" sz="2000" dirty="0">
                <a:solidFill>
                  <a:srgbClr val="554F4D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하드웨어</a:t>
            </a:r>
            <a:endParaRPr lang="en-US" altLang="ko-KR" sz="2000" dirty="0">
              <a:solidFill>
                <a:srgbClr val="554F4D"/>
              </a:solidFill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9F450324-20B0-49CF-97E3-AFFE69842BFD}"/>
              </a:ext>
            </a:extLst>
          </p:cNvPr>
          <p:cNvSpPr/>
          <p:nvPr/>
        </p:nvSpPr>
        <p:spPr>
          <a:xfrm>
            <a:off x="-5" y="-1"/>
            <a:ext cx="86586" cy="6876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DBD5032-A1A2-0257-6C09-8BD025AC75B6}"/>
              </a:ext>
            </a:extLst>
          </p:cNvPr>
          <p:cNvSpPr txBox="1"/>
          <p:nvPr/>
        </p:nvSpPr>
        <p:spPr>
          <a:xfrm>
            <a:off x="823187" y="1105931"/>
            <a:ext cx="10666079" cy="3754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모든 운영체제의 최종 목적은 사용자와 응용프로그램이 하드웨어를 이용하고 상호작용할 수 있도록 하는 것입니다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 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유닉스의 목표 또한 현재와 미래의 모든 플랫폼에서 같은 유틸리티 프로그램과 명령어를 사용해 연결된 하드웨어에 추상적이고 투명한 방식으로 접근하도록 하는 것 입니다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</a:p>
          <a:p>
            <a:pPr algn="l"/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장치라는 용어는 유닉스에서 중심적이며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, 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연결된 모든 하드웨어는 유닉스 시스템에 연결된 장치로 간주됩니다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 </a:t>
            </a:r>
          </a:p>
          <a:p>
            <a:pPr algn="l"/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컴퓨터에 연결된 하드웨어는 두 가지 범주로 분류할 수 있습니다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 </a:t>
            </a:r>
            <a:r>
              <a:rPr lang="ko-KR" altLang="en-US" sz="1700" dirty="0">
                <a:solidFill>
                  <a:schemeClr val="accent2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필수 장치 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그리고 </a:t>
            </a:r>
            <a:r>
              <a:rPr lang="ko-KR" altLang="en-US" sz="1700" dirty="0">
                <a:solidFill>
                  <a:schemeClr val="accent2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주변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ko-KR" altLang="en-US" sz="1700" dirty="0">
                <a:solidFill>
                  <a:schemeClr val="accent2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장치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입니다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 CPU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와 메인 메모리는 유닉스 시스템에 연결된 필수 장치입니다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 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하드디스크 드라이브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, 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네트워크 어댑터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, 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마우스와 같은 모든 하드웨어는 주변 장치입니다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endParaRPr lang="en-US" altLang="ko-KR" sz="1700" dirty="0">
              <a:solidFill>
                <a:srgbClr val="554F4D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 algn="l"/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유닉스 </a:t>
            </a:r>
            <a:r>
              <a:rPr lang="ko-KR" altLang="en-US" sz="1700" dirty="0" err="1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머신은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필수 장치 없이 작동할 수 없습니다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 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하지만 하드디스크 드라이브나 네트워크 어댑터가 없는 유닉스 </a:t>
            </a:r>
            <a:r>
              <a:rPr lang="ko-KR" altLang="en-US" sz="1700" dirty="0" err="1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머신은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있을 수 있습니다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 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유닉스 커널은 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CPU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와 물리 메모리를 완벽하게 숨기며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, 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커널만이 이를 직접 관리하고 사용자 공간에서는 접근이 허용되지 않습니다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 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유닉스 커널에 있는 메모리 관리 및 스케줄러 유닛은 물리 메모리와 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CPU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를 각각 관리합니다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</a:p>
          <a:p>
            <a:pPr algn="l"/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유닉스 시스템에 연결된 주변 장치는 장치 파일이라는 메커니즘을 통해 노출됩니다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 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유닉스 시스템의 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/dev 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경로에서 장치파일을 확인할 수 있습니다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</a:p>
          <a:p>
            <a:pPr algn="l"/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사용자 프로세스는 장치 파일을 사용해 장치에 해당하는 하드웨어에 접근할 수 있습니다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 </a:t>
            </a:r>
            <a:r>
              <a:rPr lang="ko-KR" altLang="en-US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이 장치 파일은 장치로부터 또는 장치로 데이터를 보내거나 받기 위해 작성되거나 읽을 수 있습니다</a:t>
            </a:r>
            <a:r>
              <a:rPr lang="en-US" altLang="ko-KR" sz="1700" dirty="0">
                <a:solidFill>
                  <a:srgbClr val="554F4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C5A5825-11E1-4FF0-EFCE-61A8DE7272FC}"/>
              </a:ext>
            </a:extLst>
          </p:cNvPr>
          <p:cNvSpPr txBox="1"/>
          <p:nvPr/>
        </p:nvSpPr>
        <p:spPr>
          <a:xfrm>
            <a:off x="10992578" y="257460"/>
            <a:ext cx="70412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1200" dirty="0">
                <a:solidFill>
                  <a:srgbClr val="554F4D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p.</a:t>
            </a:r>
            <a:r>
              <a:rPr lang="ko-KR" altLang="en-US" sz="1200" dirty="0">
                <a:solidFill>
                  <a:srgbClr val="554F4D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 </a:t>
            </a:r>
            <a:r>
              <a:rPr lang="en-US" altLang="ko-KR" sz="1200" dirty="0">
                <a:solidFill>
                  <a:srgbClr val="554F4D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402</a:t>
            </a:r>
          </a:p>
        </p:txBody>
      </p:sp>
    </p:spTree>
    <p:extLst>
      <p:ext uri="{BB962C8B-B14F-4D97-AF65-F5344CB8AC3E}">
        <p14:creationId xmlns:p14="http://schemas.microsoft.com/office/powerpoint/2010/main" val="414742505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테마">
  <a:themeElements>
    <a:clrScheme name="color">
      <a:dk1>
        <a:sysClr val="windowText" lastClr="000000"/>
      </a:dk1>
      <a:lt1>
        <a:sysClr val="window" lastClr="FFFFFF"/>
      </a:lt1>
      <a:dk2>
        <a:srgbClr val="D0CECE"/>
      </a:dk2>
      <a:lt2>
        <a:srgbClr val="E7E6E6"/>
      </a:lt2>
      <a:accent1>
        <a:srgbClr val="B98A76"/>
      </a:accent1>
      <a:accent2>
        <a:srgbClr val="DE956D"/>
      </a:accent2>
      <a:accent3>
        <a:srgbClr val="F6CAAF"/>
      </a:accent3>
      <a:accent4>
        <a:srgbClr val="EED6BC"/>
      </a:accent4>
      <a:accent5>
        <a:srgbClr val="E1D9CC"/>
      </a:accent5>
      <a:accent6>
        <a:srgbClr val="D8B8A9"/>
      </a:accent6>
      <a:hlink>
        <a:srgbClr val="595959"/>
      </a:hlink>
      <a:folHlink>
        <a:srgbClr val="595959"/>
      </a:folHlink>
    </a:clrScheme>
    <a:fontScheme name="이롭게 바탕체 Medium">
      <a:majorFont>
        <a:latin typeface="이롭게 바탕체 Medium"/>
        <a:ea typeface="이롭게 바탕체 Medium"/>
        <a:cs typeface=""/>
      </a:majorFont>
      <a:minorFont>
        <a:latin typeface="이롭게 바탕체 Medium"/>
        <a:ea typeface="이롭게 바탕체 Medium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 algn="l">
          <a:defRPr sz="3600" dirty="0" smtClean="0">
            <a:solidFill>
              <a:srgbClr val="554F4D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481</TotalTime>
  <Words>2015</Words>
  <Application>Microsoft Office PowerPoint</Application>
  <PresentationFormat>와이드스크린</PresentationFormat>
  <Paragraphs>130</Paragraphs>
  <Slides>13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18" baseType="lpstr">
      <vt:lpstr>나눔스퀘어 ExtraBold</vt:lpstr>
      <vt:lpstr>나눔스퀘어_ac ExtraBold</vt:lpstr>
      <vt:lpstr>Arial</vt:lpstr>
      <vt:lpstr>나눔스퀘어_ac Bold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Yu Saebyeol</dc:creator>
  <cp:lastModifiedBy>최 한결</cp:lastModifiedBy>
  <cp:revision>43</cp:revision>
  <dcterms:created xsi:type="dcterms:W3CDTF">2020-05-03T01:37:17Z</dcterms:created>
  <dcterms:modified xsi:type="dcterms:W3CDTF">2023-05-26T05:31:28Z</dcterms:modified>
</cp:coreProperties>
</file>